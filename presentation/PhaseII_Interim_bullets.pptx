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" dt="2026-08-15T07:47:15.888"/>
    <p1510:client id="{37C5B80D-4100-4735-6AF7-6AC2558BB974}" v="595" dt="2026-08-16T09:58:50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5E833-4932-4F1B-9E41-84D3B1F1248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AA484-DC03-4890-89A6-31823B023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9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143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8258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569-3823-463B-B25F-13C27393021A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46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827-5694-4924-A468-5E7CF0D57C63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7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E1597-8F9D-4834-9911-12A20386072F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81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1E866-7D92-4B6C-9FDD-665E0D276B40}" type="datetime4">
              <a:rPr lang="en-US" smtClean="0"/>
              <a:t>August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0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5A19-B521-4A44-83CF-C0280A2B17C3}" type="datetime4">
              <a:rPr lang="en-US" smtClean="0"/>
              <a:t>August 16,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1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495C-3575-49EE-9D3A-60F8F43B75FA}" type="datetime4">
              <a:rPr lang="en-US" smtClean="0"/>
              <a:t>August 16,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86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14A1-5873-4381-91C9-8F4CBF2CF949}" type="datetime4">
              <a:rPr lang="en-US" smtClean="0"/>
              <a:t>August 16,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2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2EFBD3-A80D-4169-A4C5-8FF63F744429}" type="datetime4">
              <a:rPr lang="en-US" smtClean="0"/>
              <a:t>August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9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E544C-43FE-443D-BC80-E2C9FBF5F700}" type="datetime4">
              <a:rPr lang="en-US" smtClean="0"/>
              <a:t>August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9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D6B-903B-4A47-B06F-D5221159FB56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83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7FDB-6A6D-4E09-A36C-031F991C6AB5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392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0A9E2C0-7A38-4B4E-B0B1-069ED4506132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2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09080" y="3643668"/>
            <a:ext cx="202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&amp;ML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789647" y="1957578"/>
            <a:ext cx="7772400" cy="8686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100" b="1" i="0" dirty="0" err="1">
                <a:solidFill>
                  <a:srgbClr val="1E252E"/>
                </a:solidFill>
                <a:latin typeface="Times New Roman"/>
                <a:cs typeface="Times New Roman"/>
              </a:rPr>
              <a:t>TraceWeave</a:t>
            </a:r>
            <a:r>
              <a:rPr sz="2100" b="1" i="0" dirty="0">
                <a:solidFill>
                  <a:srgbClr val="1E252E"/>
                </a:solidFill>
                <a:latin typeface="Times New Roman"/>
                <a:cs typeface="Times New Roman"/>
              </a:rPr>
              <a:t>-Core: Measuring What Static Call-Graph Extraction Misses in Real Python Repositories</a:t>
            </a:r>
            <a:endParaRPr lang="en-US" sz="2100" b="1" i="0" dirty="0">
              <a:solidFill>
                <a:srgbClr val="1E252E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14541" y="1627452"/>
            <a:ext cx="5526950" cy="4870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6E7883"/>
                </a:solidFill>
                <a:latin typeface="Times New Roman"/>
                <a:cs typeface="Times New Roman"/>
              </a:rPr>
              <a:t>Project Phase-II  ·  Interim Presentation</a:t>
            </a:r>
            <a:endParaRPr lang="en-US" sz="1500" b="1" i="0">
              <a:solidFill>
                <a:srgbClr val="6E7883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6E7883"/>
                </a:solidFill>
                <a:latin typeface="Times New Roman"/>
                <a:cs typeface="Times New Roman"/>
              </a:rPr>
              <a:t>on  </a:t>
            </a:r>
            <a:r>
              <a:rPr lang="en-GB" sz="1200">
                <a:solidFill>
                  <a:srgbClr val="6E7883"/>
                </a:solidFill>
                <a:latin typeface="Times New Roman"/>
                <a:cs typeface="Times New Roman"/>
              </a:rPr>
              <a:t>[18/08/20226]</a:t>
            </a:r>
            <a:endParaRPr sz="1200" b="0" i="0">
              <a:solidFill>
                <a:srgbClr val="6E7883"/>
              </a:solidFill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7420" y="2824510"/>
            <a:ext cx="142481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i="1">
                <a:latin typeface="Times New Roman"/>
                <a:cs typeface="Times New Roman"/>
              </a:rPr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21220"/>
              </p:ext>
            </p:extLst>
          </p:nvPr>
        </p:nvGraphicFramePr>
        <p:xfrm>
          <a:off x="2709834" y="3427695"/>
          <a:ext cx="81369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28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Abhishek Kumar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1AY23AI004</a:t>
                      </a:r>
                      <a:endParaRPr lang="en-IN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noProof="0" dirty="0" err="1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Pravith</a:t>
                      </a:r>
                      <a:r>
                        <a:rPr lang="en-US" sz="1300" b="0" i="0" u="none" strike="noStrike" noProof="0" dirty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 S Upadhyaya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1AY23AI086</a:t>
                      </a:r>
                      <a:endParaRPr lang="en-US" sz="1300" b="0" i="0">
                        <a:solidFill>
                          <a:srgbClr val="1E252E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Sankalp Shankar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1AY23AI101</a:t>
                      </a:r>
                      <a:endParaRPr lang="en-IN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Surabhi Singh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1AY23AI125</a:t>
                      </a:r>
                      <a:endParaRPr lang="en-IN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Guide Name: </a:t>
                      </a:r>
                    </a:p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Designation: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lang="en-IN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1E252E"/>
                          </a:solidFill>
                          <a:latin typeface="Times New Roman"/>
                        </a:rPr>
                        <a:t>[Guide Name]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6E7883"/>
                          </a:solidFill>
                          <a:latin typeface="Times New Roman"/>
                        </a:rPr>
                        <a:t>[Designation]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2667000" y="560294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Department of Artificial Intelligence and Machine Learning</a:t>
            </a:r>
            <a:endParaRPr lang="en-IN" sz="2400">
              <a:latin typeface="Times New Roman"/>
              <a:cs typeface="Times New Roman"/>
            </a:endParaRPr>
          </a:p>
          <a:p>
            <a:pPr algn="ctr"/>
            <a:r>
              <a:rPr lang="en-US" sz="2000" b="1">
                <a:latin typeface="Times New Roman"/>
                <a:cs typeface="Times New Roman"/>
              </a:rPr>
              <a:t>Acharya Institute of Technology</a:t>
            </a:r>
            <a:endParaRPr lang="en-IN" sz="2000">
              <a:latin typeface="Times New Roman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aseline="0" dirty="0" err="1">
                <a:latin typeface="Times New Roman"/>
                <a:ea typeface="+mj-ea"/>
                <a:cs typeface="Times New Roman"/>
              </a:rPr>
              <a:t>Soladevanahalli</a:t>
            </a:r>
            <a:r>
              <a:rPr lang="en-IN" sz="1600" baseline="0" dirty="0">
                <a:latin typeface="Times New Roman"/>
                <a:ea typeface="+mj-ea"/>
                <a:cs typeface="Times New Roman"/>
              </a:rPr>
              <a:t>,</a:t>
            </a:r>
            <a:r>
              <a:rPr lang="en-IN" sz="1600" dirty="0">
                <a:latin typeface="Times New Roman"/>
                <a:ea typeface="+mj-ea"/>
                <a:cs typeface="Times New Roman"/>
              </a:rPr>
              <a:t> Bengaluru 560 107</a:t>
            </a:r>
            <a:endParaRPr lang="en-IN" sz="2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6AF9B-DBF8-4472-9211-796656BBF0C4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800" b="1">
                <a:latin typeface="Times New Roman"/>
                <a:cs typeface="Times New Roman"/>
              </a:rPr>
              <a:t>DEPARTMENT OF ARTIFICIAL INTELLIGENCE AND MACHINE LEARNING</a:t>
            </a:r>
          </a:p>
          <a:p>
            <a:pPr algn="ctr"/>
            <a:r>
              <a:rPr lang="en-US" sz="800" b="1">
                <a:latin typeface="Times New Roman"/>
                <a:cs typeface="Times New Roman"/>
              </a:rPr>
              <a:t>ACHARYA INSTITUTE OF TECHNOLOGY</a:t>
            </a:r>
            <a:endParaRPr lang="en-IN" sz="800" b="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256FDA-A5AE-4639-8C71-AB1AF8C3BE0C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800" b="1">
                <a:latin typeface="Times New Roman"/>
                <a:cs typeface="Times New Roman"/>
              </a:rPr>
              <a:t>DEPARTMENT OF ARTIFICIAL INTELLIGENCE AND MACHINE LEARNING</a:t>
            </a:r>
          </a:p>
          <a:p>
            <a:pPr algn="ctr"/>
            <a:r>
              <a:rPr lang="en-US" sz="800" b="1">
                <a:latin typeface="Times New Roman"/>
                <a:cs typeface="Times New Roman"/>
              </a:rPr>
              <a:t>ACHARYA INSTITUTE OF TECHNOLOGY</a:t>
            </a:r>
            <a:endParaRPr lang="en-IN" sz="800" b="1">
              <a:latin typeface="Times New Roman"/>
              <a:cs typeface="Times New Roman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FA58E6-51ED-9AAA-BC29-A8912A82E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985" y="286603"/>
            <a:ext cx="8371914" cy="599110"/>
          </a:xfrm>
        </p:spPr>
        <p:txBody>
          <a:bodyPr/>
          <a:lstStyle/>
          <a:p>
            <a:r>
              <a:rPr lang="en-US" sz="2600" b="1">
                <a:solidFill>
                  <a:srgbClr val="1F3864"/>
                </a:solidFill>
                <a:latin typeface="Times New Roman"/>
                <a:cs typeface="Times New Roman"/>
              </a:rPr>
              <a:t>TABLE OF CONTENTS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65FB1F-A33C-B2DF-E8B4-F055F9C30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215181"/>
              </p:ext>
            </p:extLst>
          </p:nvPr>
        </p:nvGraphicFramePr>
        <p:xfrm>
          <a:off x="2829485" y="1143000"/>
          <a:ext cx="8382480" cy="457193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2958">
                  <a:extLst>
                    <a:ext uri="{9D8B030D-6E8A-4147-A177-3AD203B41FA5}">
                      <a16:colId xmlns:a16="http://schemas.microsoft.com/office/drawing/2014/main" val="2855278599"/>
                    </a:ext>
                  </a:extLst>
                </a:gridCol>
                <a:gridCol w="5829903">
                  <a:extLst>
                    <a:ext uri="{9D8B030D-6E8A-4147-A177-3AD203B41FA5}">
                      <a16:colId xmlns:a16="http://schemas.microsoft.com/office/drawing/2014/main" val="4105030825"/>
                    </a:ext>
                  </a:extLst>
                </a:gridCol>
                <a:gridCol w="1729619">
                  <a:extLst>
                    <a:ext uri="{9D8B030D-6E8A-4147-A177-3AD203B41FA5}">
                      <a16:colId xmlns:a16="http://schemas.microsoft.com/office/drawing/2014/main" val="1242934833"/>
                    </a:ext>
                  </a:extLst>
                </a:gridCol>
              </a:tblGrid>
              <a:tr h="459619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No.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Contents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Page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21791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Problem Statement &amp; Objective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1060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Flow / Methodology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4–5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558384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Demo of Project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074228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Results / Output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450033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Status of Paper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8–9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001182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Proposed Outcome vs Actual Outcome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10–11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3489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Conclusion, Deliverables &amp; Impact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12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41228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Individual Responsibilities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8950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Gantt Chart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920659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References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8055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cs typeface="Times New Roman"/>
              </a:rPr>
              <a:t>1.  Problem Statement &amp; Objective</a:t>
            </a:r>
            <a:endParaRPr lang="en-IN" sz="3200" b="1"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800" b="1">
                <a:latin typeface="Times New Roman"/>
                <a:cs typeface="Times New Roman"/>
              </a:rPr>
              <a:t>DEPARTMENT OF ARTIFICIAL INTELLIGENCE AND MACHINE LEARNING</a:t>
            </a:r>
          </a:p>
          <a:p>
            <a:pPr algn="ctr"/>
            <a:r>
              <a:rPr lang="en-US" sz="800" b="1">
                <a:latin typeface="Times New Roman"/>
                <a:cs typeface="Times New Roman"/>
              </a:rPr>
              <a:t>ACHARYA INSTITUTE OF TECHNOLOGY</a:t>
            </a:r>
            <a:endParaRPr lang="en-IN" sz="800" b="1">
              <a:latin typeface="Times New Roman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THE PROBLEM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Repository-level modernization is bottlenecked by call-graph quality, not by model capacity.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Python decides many calls at run time — getattr dispatch, importlib, plugin registries, DI containers.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Static extractors cannot see those edges, and no one has measured how many are lost.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A silently lossy call graph makes an LLM code agent confidently wrong.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WHAT ONE MISS LOOKS LIKE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Static extraction (PyCG 0.0.8) reports two edges: main → dispatch, then dispatch → &lt;builtin&gt;.getattr.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Runtime tracing (sys.setprofile) reports two edges: main → dispatch, then dispatch → handle_email.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The second runtime edge is real, is executed on every run, and is invisible to static analysis.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OBJECTIVES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O1 — Measure the miss rate: recall of static extraction against runtime-observed edges (hypothesis H2a).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O2 — Name the mechanism: show that misses concentrate in identifiable construct classes, not diffusely.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O3 — Release DynBench-Core: pinned repositories, replayable workloads, reference edge sets and harness.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O4 — Report feasibility: what it actually costs to trace real projects at corpus scale.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35592" y="3643668"/>
            <a:ext cx="233658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Times New Roman"/>
                <a:cs typeface="Times New Roman"/>
              </a:rPr>
              <a:t>   </a:t>
            </a: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cs typeface="Times New Roman"/>
              </a:rPr>
              <a:t>2.  Flow / Methodology — Measurement Pipeline  (1 of 2)</a:t>
            </a:r>
            <a:endParaRPr lang="en-IN" sz="3200" b="1"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800" b="1">
                <a:latin typeface="Times New Roman"/>
                <a:cs typeface="Times New Roman"/>
              </a:rPr>
              <a:t>DEPARTMENT OF ARTIFICIAL INTELLIGENCE AND MACHINE LEARNING</a:t>
            </a:r>
          </a:p>
          <a:p>
            <a:pPr algn="ctr"/>
            <a:r>
              <a:rPr lang="en-US" sz="800" b="1">
                <a:latin typeface="Times New Roman"/>
                <a:cs typeface="Times New Roman"/>
              </a:rPr>
              <a:t>ACHARYA INSTITUTE OF TECHNOLOGY</a:t>
            </a:r>
            <a:endParaRPr lang="en-IN" sz="800" b="1">
              <a:latin typeface="Times New Roman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THE PIPELINE — SIX STAGES, EACH WITH A FIXED OUTPUT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Discover — GitHub search over Python repositories that carry a build file.  Output: 558 candidates queued.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Score density — AST scorer counts dynamic constructs per KLOC of source only.  Output: LOW / MED / HIGH stratum.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Triage — containerised install and test run; one repo, one Python, one attempt.  Output: GREEN / AMBER / RED plus a pinned lockfile.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Capture workloads — annotators record at least three replayable runs per repo, verified twice.  Output: the execution oracle.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Extract both graphs — static: PyCG 0.0.8 and Pyright 1.1.411; dynamic: the sys.monitoring tracer.  Output: S and R.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Fuse and measure — dual-state CPG fused on read; recall computed over the comparable universe.  Output: the H2a number.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WHY THE ORDER IS PART OF THE METHOD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Density scoring precedes triage, so the corpus is stratified before expensive container work is spent on it.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Workload capture precedes extraction, so the runtime edge set is fixed by a recorded oracle rather than by whatever happened to execute.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Fusion is last, so neither graph can be adjusted after the other has been seen.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EXECUTION ENVIRONMENT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Every stage runs inside a container pinned by digest, never by tag.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The host never traces — it only schedules, collects and verifies.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2.  Flow / Methodology — What Makes It a Measurement  (2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000000"/>
                </a:solidFill>
                <a:latin typeface="Times New Roman"/>
              </a:rPr>
              <a:t>IDENTITY IS PINNED BEFORE ANYTHING RUNS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Repo identity requires all five fields: repo_url, sha, pyver, base_image_digest, lockfile_sha256.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Node identity is frozen as: repo_url, sha, relative_path, qualified_symbol.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Line numbers are deliberately excluded — they move under reformatting and differ between the static parse and the runtime frame.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Both graphs are extracted inside the same pinned image, so a difference between them is a property of the code, not of the environment.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000000"/>
                </a:solidFill>
                <a:latin typeface="Times New Roman"/>
              </a:rPr>
              <a:t>METRIC DISCIPLINE, PRE-REGISTERED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Comparable universe — both endpoints in-repo and Python-level; C/builtin and third-party edges are excluded from the primary denominator.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Recall = |S∩R| / |R|.  The quantity |S∩R| / |S| is never called precision; it is the workload-confirmed fraction.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R is a lower bound, conditional on the recorded workloads.  That wording is mandatory everywhere it is reported.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Wrapper transparency — caller → wrapper → f collapses to caller → f, so decorators cannot manufacture misses.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No LLM-as-judge anywhere in validation or in any headline metric.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000000"/>
                </a:solidFill>
                <a:latin typeface="Times New Roman"/>
              </a:rPr>
              <a:t>FROZEN BEFORE THE CODE THAT CONSUMES THEM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metric_spec_h2a.md, frozen v1.0 — node identity, what counts as an edge, the comparable universe, threats pre-empted.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density_scorer_spec.md, frozen v1.0 — thresholds calibrated once, on 14 reference repos, before any corpus admission.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config/base_images.json, frozen v1.2 — five image digests, tool pins, the recipe ladder; appended to, never edited.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3.  Demo of Project — A Call Graph Missing a Real Call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000000"/>
                </a:solidFill>
                <a:latin typeface="Times New Roman"/>
              </a:rPr>
              <a:t>WHAT RUNS ON SCREEN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fixture.py — a small plugin registry that dispatches through getattr, the exact construct class H2a is about.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PyCG 0.0.8 — runs in the pinned container against the same file and writes static.json.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sys.setprofile tracer — executes the fixture for real and writes runtime.json.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Web explainer — React and Cytoscape diff the two graphs and highlight the edge only one of them has.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000000"/>
                </a:solidFill>
                <a:latin typeface="Times New Roman"/>
              </a:rPr>
              <a:t>REAL OUTPUT FROM THIS REPOSITORY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static.json, 3 edges: fixture → fixture.main; fixture.main → PluginRegistry.dispatch; PluginRegistry.dispatch → &lt;builtin&gt;.getattr.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runtime.json, 3 edges: fixture → fixture.main; fixture.main → PluginRegistry.dispatch; PluginRegistry.dispatch → PluginRegistry.handle_email.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The two graphs agree on the first two edges and disagree on the third.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PluginRegistry.handle_email is executed on every run and appears in no static graph.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000000"/>
                </a:solidFill>
                <a:latin typeface="Times New Roman"/>
              </a:rPr>
              <a:t>DEMO SAFETY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A warm end-to-end run takes 0.35 to 2.7 seconds; the fallback threshold is 15 seconds.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restore_fallback.sh replays a recorded static/runtime pair if the live run does not complete.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000000"/>
                </a:solidFill>
                <a:latin typeface="Times New Roman"/>
              </a:rPr>
              <a:t>WHY THE DEMO IS THE ARGUMENT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The demo is the hypothesis in miniature: one file, one construct, one lost edge.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Run the same static-versus-runtime diff across the whole pinned corpus and the result is the H2a number.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4.  Results / Output — Phase 0, Measured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000000"/>
                </a:solidFill>
                <a:latin typeface="Times New Roman"/>
              </a:rPr>
              <a:t>HEADLINE NUMBERS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558 candidates discovered and scored, against a target of ~450 and a floor of 300.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100% PyCG failure rate under Python 3.12 — it does not run there at all.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1.6% PyCG failure on library code under Python 3.10, and 3.1% on test and fixture paths.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93 seconds to triage click GREEN, end to end, producing a 9-package lockfile and its sha256.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000000"/>
                </a:solidFill>
                <a:latin typeface="Times New Roman"/>
              </a:rPr>
              <a:t>STRATIFIED QUEUE AND SCORER CALIBRATION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HIGH, density ≥ 10.0 — 135 repos queued, 6 in the reference set.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MED, density 4.0 to 10.0 — 177 repos queued, 4 in the reference set.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LOW, density &lt; 4.0 — 246 repos queued, 3 in the reference set.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TOO_SMALL, under 500 SLOC — not queued, 1 in the reference set.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Totals: 558 repos queued; 14 reference repos used for calibration.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Stratum is computed from source only — scoring test suites together made every pytest project look HIGH.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000000"/>
                </a:solidFill>
                <a:latin typeface="Times New Roman"/>
              </a:rPr>
              <a:t>FOUND BY RUNNING PHASE 0, NOT BY PLANNING IT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PyCG 0.0.8 cannot be imported on Linux — it ships PyCG/ but imports pycg; a symlink shim is now mandatory in every image.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The scorer's first run had no discrimination: 10 of 14 repos landed HIGH.  Four false-positive classes were fixed before freezing.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The scorer corrected two a-priori labels and was right — requests really does call importlib.import_module in its compat layer.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ins1's classifier has an ordering bug.  It is kept verbatim as error_class_v10 for audit comparability, and the disagreement rate is now reportable.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A 16.8× overcount was caught in verification — click's collected tests read as 32965 instead of 1965.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5.  Status of Paper  (1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PAPER 1 · SYSTEMATIC REVIEW · UNDER REVIEW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Title: “Graph-Aware Neuro-Symbolic Approaches for Legacy Modernization: A Systematic Review”.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Authors: Adarsha S P · Sankalp Shankar · Surabhi Singh · Pravith S Upadhyaya · Abhishek Kumar.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Sources searched: IEEE Xplore, ACM Digital Library and arXiv, January 2020 to April 2026.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Subject: repository-level code translation, refactoring and validation.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§VIII.B is the finding this project turns into a measurement.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Venue: [Venue Name].    Submitted: [Date].    Paper ID: [ID].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PAPER 2 · IN PREPARATION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Title: “TraceWeave-Core: How Much of a Python Call Graph Does Static Extraction Miss?”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Gated on the Phase 3 GO / NO-GO decision.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Headline result: the H2a recall figure, with its per-stratum and per-edge-type breakdowns.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Accompanying artifact: DynBench-Core.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The measurement is publishable either way — a low miss rate concentrated at named constructs is a stronger result than a diffuse high one.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PRE-REGISTRATION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No threshold or definition may be tuned after seeing results — the specs were frozen before the extraction code existed.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5.  Status of Paper — Proof  (2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SUBMISSION PROOF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The submission-confirmation screenshot is pasted onto this slide before the review.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Acceptable proof: the acknowledgement e-mail, or the portal's submitted-papers page.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WHAT THE PROOF MUST SHOW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Paper title, exactly as submitted.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Full author list, in submission order.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Venue name and track.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Submission or paper ID.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Date-stamped acknowledgement.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Current state, as reported by the portal.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BEFORE THE SLIDE IS SHOWN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Redact reviewer identities.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Redact any e-mail address that is not a team member's.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Confirm the screenshot is legible when projected, not only on a laptop screen.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6.  Proposed Outcome vs Actual Outcome  (1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PHASE 0 COMMITMENTS — MET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Candidates discovered and scored — proposed ~450, floor 300; actual 558 queued.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Stratum balance, HIGH not thin — risk flagged in the plan; actual HIGH 135 / MED 177 / LOW 246.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Pyright pinned before Phase 1 — version query pending; actual 1.1.411, published 2026-06-25.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PyCG parse-failure rate measured — proposed as “expected non-trivial”; actual 1.6% at 3.10 and 100% at 3.12.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triage/runner.py parallel queue — proposed recipe ladder plus checkpoints; delivered, and it re-verifies every outcome.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Density scorer calibrated and frozen — proposed calibrate once then freeze; delivered v1.0, 6 HIGH / 4 MED / 3 LOW / 1 TOO_SMALL.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COMMITMENTS CARRIED FORWARD — NEXT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Corpus with at least three workloads per repo — proposed ~60 repos, floor 40; Phase 1 work, not started.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H2a recall figure — proposed at the Phase 3 GO / NO-GO; not yet measured, by design.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HOW TO READ THIS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Phase 0 closed on schedule and over target on every item it owned.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The two NEXT items are Phase 1 and Phase 3 deliverables, not slippage.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6.  What the Plan Did Not Predict  (2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000000"/>
                </a:solidFill>
                <a:latin typeface="Times New Roman"/>
              </a:rPr>
              <a:t>FOUR SURPRISES, AND WHAT EACH ONE CHANGED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PyCG does not run on Python 3.12 at all — 1311 of 1311 reference files fail with ImportManagerError, not a SyntaxError, so §2 anticipated the wrong risk.</a:t>
            </a:r>
          </a:p>
          <a:p>
            <a:pPr marL="475488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–  Response: static baselines now run on Python ≤ 3.11 while repos are triaged on 3.12, recorded as a deliberate split rather than discovered from a stack trace.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The published 0.0.8 sdist is unimportable on Linux — it installs PyCG/ but every internal import reads pycg, so it only ever worked on case-insensitive macOS.</a:t>
            </a:r>
          </a:p>
          <a:p>
            <a:pPr marL="475488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–  Response: the pin is held at 0.0.8, every image carries the symlink shim, and the deviation is written into MANIFEST §2.1.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This Mac cannot build the corpus — 8 GB of RAM OOM-kills test suites at --jobs 3, and the corpus must be built on one architecture.</a:t>
            </a:r>
          </a:p>
          <a:p>
            <a:pPr marL="475488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–  Response: the Mac is the manager host and the Linux x86_64 box executes; the corpus is amd64, and a Mac-triaged repo counts as development output.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A patch introduced a silent 16.8× overcount — n_collected matched pytest's pre-deselection total, so click read 32965 instead of 1965.</a:t>
            </a:r>
          </a:p>
          <a:p>
            <a:pPr marL="475488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–  Response: caught during verification and fixed in both triage.sh and runner.py, with the pre-deselection total kept separately as n_collected_total.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000000"/>
                </a:solidFill>
                <a:latin typeface="Times New Roman"/>
              </a:rPr>
              <a:t>STILL OPEN — CARRIED INTO PHASE 1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Amend ins1 §6: triage.sh v1.2 emits OOM, TIMEOUT, KILLED and collect_partial, which the operator sheet forbids — an operator cannot record what the script prints.</a:t>
            </a:r>
          </a:p>
          <a:p>
            <a:pPr marL="475488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–  validate_sheet.py --v12 is the interim machine check until the amendment lands.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Re-run the 10% human-versus-classifier audit under v1.2.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•  Do not pool the 14 v1.1 spot-check rows with the 558.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7.  Conclusion, Deliverables &amp; Impact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000000"/>
                </a:solidFill>
                <a:latin typeface="Times New Roman"/>
              </a:rPr>
              <a:t>KEY FINDINGS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Phase 0 closed complete and over target: 558 candidates against a plan of ~450.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The field's standard static baseline fails on 100% of files under the interpreter this project defaults to.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Dynamic-feature density is measurable and discriminating once four false-positive classes are removed.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Every headline defect so far was found by running the pipeline, not by reviewing it.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000000"/>
                </a:solidFill>
                <a:latin typeface="Times New Roman"/>
              </a:rPr>
              <a:t>DELIVERABLES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DynBench-Core — pinned repositories, replayable workloads, reference edge sets and harness.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A pre-registered H2a metric specification, frozen before any extraction code existed.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Automated triage — triage.sh v1.2 and runner.py, with explicit corpus admission.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A tracing-feasibility survey, including the repositories that could not be traced.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000000"/>
                </a:solidFill>
                <a:latin typeface="Times New Roman"/>
              </a:rPr>
              <a:t>IMPACT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Tells graph-conditioned code agents how lossy their retrieval substrate really is.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Names the construct classes to fix, rather than reporting one diffuse percentage.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Benchmarks outlive methods — the artifact stays useful after the number is quoted.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A negative result is still the paper: the conditional claim is the strong one.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000000"/>
                </a:solidFill>
                <a:latin typeface="Times New Roman"/>
              </a:rPr>
              <a:t>WHY THE PINS EXIST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Every pin, digest and frozen threshold exists so the published number is a measurement, not the result of searching until something looked good.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8.  Individual Responsibilities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WORKSTREAM OWNERSHIP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[Member 1 Name], [1AY__AI___] — Discovery &amp; stratification.  Owns discover_candidates.py, density_score.py, scorer calibration and the frozen thresholds.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[Member 2 Name], [1AY__AI___] — Triage automation.  Owns triage.sh v1.2, runner.py, lockfile pinning, corpus admission and the 10% audit.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[Member 3 Name], [1AY__AI___] — Static baselines.  Owns PyCG 0.0.8 and Pyright 1.1.411 in pinned images, parse-rate measurement and the feasibility survey.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[Member 4 Name], [1AY__AI___] — Tracing, demo &amp; specification.  Owns the sys.monitoring tracer, the live demo and web explainer, metric_spec_h2a.md and MANIFEST.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GUIDE — [GUIDE NAME], [DESIGNATION]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Reviews every freeze and every version bump.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Approves the Phase 3 GO / NO-GO.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Supervises submission.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450" b="1">
                <a:solidFill>
                  <a:srgbClr val="000000"/>
                </a:solidFill>
                <a:latin typeface="Times New Roman"/>
              </a:rPr>
              <a:t>SHARED ACROSS ALL FOUR MEMBERS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Weekly integration.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The 10% human-versus-classifier audit.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Rehearsal of the live demo on the presentation machine.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9.  Gantt Chart — Workstreams</a:t>
            </a:r>
            <a:endParaRPr lang="en-GB" sz="2400" b="1">
              <a:solidFill>
                <a:srgbClr val="1E25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5440680" y="1133856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108813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Delivered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7688" y="1133856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22008" y="108813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In progress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54696" y="1133856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9016" y="108813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32195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219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23710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371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15225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1522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6740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674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98255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9825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89770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8977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81285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128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965484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0" y="1517904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34640" y="1600200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Discovery &amp; candidate pool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68112" y="1581912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190195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Density scorer + calibration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68112" y="1883664"/>
            <a:ext cx="1328166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2121408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834640" y="2203703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Triage atom — triage.sh v1.2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68112" y="2185415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2505456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runner.py + corpus ledger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59627" y="2487168"/>
            <a:ext cx="1328166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2724912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34640" y="280720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Static baselines pinned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59627" y="2788920"/>
            <a:ext cx="1328166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40" y="3108960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Metric spec — frozen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68112" y="3090672"/>
            <a:ext cx="636651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3328415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834640" y="3410711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SOP v1.1 + operator sheets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68112" y="3392423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34640" y="3712463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Tracer prototype + live demo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1142" y="3694176"/>
            <a:ext cx="636651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3931920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834640" y="4014215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Corpus build — 558 repos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1142" y="3995928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IN PROGRESS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34640" y="431596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Workload capture (ins2)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42656" y="4297680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743200" y="4535424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834640" y="4617720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Tracing + normalisation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2656" y="4599432"/>
            <a:ext cx="2711196" cy="192024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834640" y="491947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Fusion → H2a → GO / NO-GO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25686" y="4901184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2743200" y="3931920"/>
            <a:ext cx="8229600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402353" y="1426463"/>
            <a:ext cx="18288" cy="3712463"/>
          </a:xfrm>
          <a:prstGeom prst="rect">
            <a:avLst/>
          </a:prstGeom>
          <a:solidFill>
            <a:srgbClr val="B3332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679977" y="51663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B33322"/>
                </a:solidFill>
                <a:latin typeface="Times New Roman"/>
              </a:rPr>
              <a:t>▲  TODAY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743200" y="5431536"/>
            <a:ext cx="8229600" cy="8412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962656" y="5550408"/>
            <a:ext cx="779068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1">
                <a:solidFill>
                  <a:srgbClr val="1E252E"/>
                </a:solidFill>
                <a:latin typeface="Times New Roman"/>
              </a:rPr>
              <a:t>Eight of twelve workstreams are delivered, in the first three weeks.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All four of MANIFEST §7's Phase-1 blockers — the Pyright pin, the PyCG parse-rate measurement, runner.py and discover_candidates.py — were cleared before Phase 1 opened.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E252E"/>
                </a:solidFill>
                <a:latin typeface="Times New Roman"/>
              </a:rPr>
              <a:t>The chart stops at the Week 8 seam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because H2a, DynBench-Core and the feasibility survey already form a complete paper there. H2b-lite and the release run weeks 8–12 beyond it.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10.  References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24128"/>
            <a:ext cx="8229600" cy="5266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IEEE FORMAT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[1]  V. Salis, T. Sotiropoulos, P. Louridas, D. Spinellis, and D. Mitropoulos, “PyCG: Practical call graph generation in Python,” in Proc. 43rd Int. Conf. Software Engineering (ICSE), 2021, pp. 1646–1657.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[2]  A. S. P, S. Shankar, S. Singh, P. S. Upadhyaya, and A. Kumar, “Graph-aware neuro-symbolic approaches for legacy modernization: A systematic review,” 2026, under review.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[3]  M. Shannon, “PEP 669 — Low impact monitoring for CPython,” Python Enhancement Proposals, Python Software Foundation, 2022.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[4]  R. Bairi, A. Sonwane, A. Kanade, S. Iyer, S. Parthasarathy, S. Rajamani, B. Ashok, and S. Shet, “CodePlan: Repository-level coding using LLMs and planning,” in Proc. Int. Conf. Learning Representations (ICLR), 2024.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[5]  S. Ouyang, W. Yu, K. Ma, Z. Xiao, Z. Zhang, M. Jia, J. Han, H. Zhang, and D. Yu, “RepoGraph: Enhancing AI software engineering with repository-level code graph,” in Proc. Int. Conf. Learning Representations (ICLR), 2025.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[6]  Y. Pan, J. Zhao, C. Wang, and Q. Liu, “RepoTransBench: A real-world benchmark for repository-level code translation,” arXiv:2412.17744, 2024.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[7]  A. R. Ibrahimzada, K. Ke, M. Pawagi, M. S. Abid, R. Pan, S. Sinha, and R. Jabbarvand, “Repository-level compositional code translation and validation,” arXiv:2410.24117, 2024.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[8]  D. Guo, S. Ren, S. Lu, Z. Feng, D. Tang, S. Liu, L. Zhou, N. Duan, A. Svyatkovskiy, S. Fu, M. Tufano, S. Deng, C. Clement, D. Drain, N. Sundaresan, J. Yin, D. Jiang, and M. Zhou, “GraphCodeBERT: Pre-training code representations with data flow,” in Proc. Int. Conf. Learning Representations (ICLR), 2021.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[9]  Microsoft, “Pyright: Static type checker for Python,” version 1.1.411, 2026. [Online]. Available: https://github.com/microsoft/pyright</a:t>
            </a:r>
          </a:p>
          <a:p>
            <a:pPr marL="402336" indent="-40233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[10] Python Software Foundation, “ast — Abstract syntax trees,” Python 3.12 documentation, 2026. [Online]. Available: https://docs.python.org/3.12/library/ast.html</a:t>
            </a:r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NOTE</a:t>
            </a:r>
          </a:p>
          <a:p>
            <a:pPr marL="219456" indent="-219456">
              <a:spcBef>
                <a:spcPts val="0"/>
              </a:spcBef>
              <a:spcAft>
                <a:spcPts val="350"/>
              </a:spcAft>
              <a:buNone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•  Internal project documents (MANIFEST.md, metric_spec_h2a.md, density_scorer_spec.md) are cited in the report, not here.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CA009B-2FB7-45FB-816D-285EF3CCBA2C}"/>
              </a:ext>
            </a:extLst>
          </p:cNvPr>
          <p:cNvSpPr/>
          <p:nvPr/>
        </p:nvSpPr>
        <p:spPr>
          <a:xfrm>
            <a:off x="4367388" y="2257107"/>
            <a:ext cx="474862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>
                <a:solidFill>
                  <a:srgbClr val="1E25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itchFamily="66" charset="0"/>
                <a:cs typeface="Arial" charset="0"/>
              </a:rPr>
              <a:t>Thank you</a:t>
            </a:r>
            <a:endParaRPr lang="en-IN" sz="6600">
              <a:latin typeface="Arial" charset="0"/>
              <a:cs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4EA726-0E29-4E1A-A463-6CCE28D687EC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/>
              <a:t>DEPARTMENT OF ARTIFICIAL INTELLIGENCE AND MACHINE LEARNING</a:t>
            </a:r>
          </a:p>
          <a:p>
            <a:pPr algn="ctr"/>
            <a:r>
              <a:rPr lang="en-US" sz="800"/>
              <a:t>ACHARYA INSTITUTE OF TECHNOLOGY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35164332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Times New Roman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Retrospect</vt:lpstr>
      <vt:lpstr>PowerPoint Presentation</vt:lpstr>
      <vt:lpstr>TABLE OF CONTENTS</vt:lpstr>
      <vt:lpstr>1.  Problem Statement &amp; Objective</vt:lpstr>
      <vt:lpstr>2.  Flow / Methodology — Measurement Pipeline  (1 of 2)</vt:lpstr>
      <vt:lpstr>2.  Flow / Methodology — What Makes It a Measurement  (2 of 2)</vt:lpstr>
      <vt:lpstr>3.  Demo of Project — A Call Graph Missing a Real Call</vt:lpstr>
      <vt:lpstr>4.  Results / Output</vt:lpstr>
      <vt:lpstr>5.  Status of Paper  (1 of 2)</vt:lpstr>
      <vt:lpstr>5.  Status of Paper — Proof  (2 of 2)</vt:lpstr>
      <vt:lpstr>6.  Proposed Outcome vs Actual Outcome  (1 of 2)</vt:lpstr>
      <vt:lpstr>6.  What the Plan Did Not Predict  (2 of 2)</vt:lpstr>
      <vt:lpstr>7.  Conclusion, Deliverables &amp; Impact</vt:lpstr>
      <vt:lpstr>8.  Individual Responsibilities</vt:lpstr>
      <vt:lpstr>9.  Gantt Chart — Workstreams</vt:lpstr>
      <vt:lpstr>10. 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niraj</dc:creator>
  <cp:revision>117</cp:revision>
  <dcterms:created xsi:type="dcterms:W3CDTF">2024-03-22T10:12:46Z</dcterms:created>
  <dcterms:modified xsi:type="dcterms:W3CDTF">2026-08-16T10:00:51Z</dcterms:modified>
</cp:coreProperties>
</file>