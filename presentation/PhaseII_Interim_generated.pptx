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16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E5E833-4932-4F1B-9E41-84D3B1F12489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0AA484-DC03-4890-89A6-31823B023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97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1204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1204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01431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582586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2569-3823-463B-B25F-13C27393021A}" type="datetime4">
              <a:rPr lang="en-US" smtClean="0"/>
              <a:t>August 12,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0463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B9827-5694-4924-A468-5E7CF0D57C63}" type="datetime4">
              <a:rPr lang="en-US" smtClean="0"/>
              <a:t>August 12,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670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E1597-8F9D-4834-9911-12A20386072F}" type="datetime4">
              <a:rPr lang="en-US" smtClean="0"/>
              <a:t>August 12,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1817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1E866-7D92-4B6C-9FDD-665E0D276B40}" type="datetime4">
              <a:rPr lang="en-US" smtClean="0"/>
              <a:t>August 12,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05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45A19-B521-4A44-83CF-C0280A2B17C3}" type="datetime4">
              <a:rPr lang="en-US" smtClean="0"/>
              <a:t>August 12,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918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D495C-3575-49EE-9D3A-60F8F43B75FA}" type="datetime4">
              <a:rPr lang="en-US" smtClean="0"/>
              <a:t>August 12,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786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D14A1-5873-4381-91C9-8F4CBF2CF949}" type="datetime4">
              <a:rPr lang="en-US" smtClean="0"/>
              <a:t>August 12,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620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52EFBD3-A80D-4169-A4C5-8FF63F744429}" type="datetime4">
              <a:rPr lang="en-US" smtClean="0"/>
              <a:t>August 12,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897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E544C-43FE-443D-BC80-E2C9FBF5F700}" type="datetime4">
              <a:rPr lang="en-US" smtClean="0"/>
              <a:t>August 12,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697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9AD6B-903B-4A47-B06F-D5221159FB56}" type="datetime4">
              <a:rPr lang="en-US" smtClean="0"/>
              <a:t>August 12,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583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A7FDB-6A6D-4E09-A36C-031F991C6AB5}" type="datetime4">
              <a:rPr lang="en-US" smtClean="0"/>
              <a:t>August 12,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8392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0A9E2C0-7A38-4B4E-B0B1-069ED4506132}" type="datetime4">
              <a:rPr lang="en-US" smtClean="0"/>
              <a:t>August 12,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922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005200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0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09080" y="3643668"/>
            <a:ext cx="2026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AI &amp;ML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2509500" y="1481328"/>
            <a:ext cx="7772400" cy="868680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100" b="1" i="0">
                <a:solidFill>
                  <a:srgbClr val="1E252E"/>
                </a:solidFill>
                <a:latin typeface="Times New Roman"/>
              </a:rPr>
              <a:t>TraceWeave-Core: Measuring What Static Call-Graph Extraction Misses in Real Python Repositories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0850" y="932688"/>
            <a:ext cx="5526950" cy="5303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6E7883"/>
                </a:solidFill>
                <a:latin typeface="Times New Roman"/>
              </a:rPr>
              <a:t>Project Phase-II  ·  Interim Presentation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6E7883"/>
                </a:solidFill>
                <a:latin typeface="Times New Roman"/>
              </a:rPr>
              <a:t>on  [Presentation Date]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67420" y="2432304"/>
            <a:ext cx="1424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i="1" dirty="0"/>
              <a:t>Presented by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709834" y="2755342"/>
          <a:ext cx="8136903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4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23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Group 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USN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i="0">
                          <a:solidFill>
                            <a:srgbClr val="1E252E"/>
                          </a:solidFill>
                          <a:latin typeface="Times New Roman"/>
                        </a:rPr>
                        <a:t>[Group No]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1E252E"/>
                          </a:solidFill>
                          <a:latin typeface="Times New Roman"/>
                        </a:rPr>
                        <a:t>[Member 1 Name]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1E252E"/>
                          </a:solidFill>
                          <a:latin typeface="Times New Roman"/>
                        </a:rPr>
                        <a:t>[1AY__AI___]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1E252E"/>
                          </a:solidFill>
                          <a:latin typeface="Times New Roman"/>
                        </a:rPr>
                        <a:t>[Member 2 Name]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1E252E"/>
                          </a:solidFill>
                          <a:latin typeface="Times New Roman"/>
                        </a:rPr>
                        <a:t>[1AY__AI___]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1E252E"/>
                          </a:solidFill>
                          <a:latin typeface="Times New Roman"/>
                        </a:rPr>
                        <a:t>[Member 3 Name]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1E252E"/>
                          </a:solidFill>
                          <a:latin typeface="Times New Roman"/>
                        </a:rPr>
                        <a:t>[1AY__AI___]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1E252E"/>
                          </a:solidFill>
                          <a:latin typeface="Times New Roman"/>
                        </a:rPr>
                        <a:t>[Member 4 Name]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1E252E"/>
                          </a:solidFill>
                          <a:latin typeface="Times New Roman"/>
                        </a:rPr>
                        <a:t>[1AY__AI___]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1680">
                <a:tc gridSpan="3"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Guide Name:</a:t>
                      </a:r>
                    </a:p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Designation:</a:t>
                      </a:r>
                      <a:r>
                        <a:rPr lang="en-US" b="1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i="0">
                          <a:solidFill>
                            <a:srgbClr val="1E252E"/>
                          </a:solidFill>
                          <a:latin typeface="Times New Roman"/>
                        </a:rPr>
                        <a:t>[Guide Name]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6E7883"/>
                          </a:solidFill>
                          <a:latin typeface="Times New Roman"/>
                        </a:rPr>
                        <a:t>[Designation]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itle 1"/>
          <p:cNvSpPr txBox="1">
            <a:spLocks/>
          </p:cNvSpPr>
          <p:nvPr/>
        </p:nvSpPr>
        <p:spPr>
          <a:xfrm>
            <a:off x="2667000" y="0"/>
            <a:ext cx="7620000" cy="9143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2400" b="1" dirty="0"/>
              <a:t>Department of Artificial Intelligence and Machine Learning</a:t>
            </a:r>
            <a:endParaRPr lang="en-IN" sz="2400" dirty="0"/>
          </a:p>
          <a:p>
            <a:pPr algn="ctr"/>
            <a:r>
              <a:rPr lang="en-US" sz="2000" b="1" dirty="0"/>
              <a:t>Acharya Institute of Technology</a:t>
            </a:r>
            <a:endParaRPr lang="en-IN" sz="2000" dirty="0"/>
          </a:p>
          <a:p>
            <a:pPr marL="0" marR="0" lvl="0" indent="0" algn="ctr" defTabSz="914400" rtl="0"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600" baseline="0" dirty="0">
                <a:ea typeface="+mj-ea"/>
                <a:cs typeface="+mj-cs"/>
              </a:rPr>
              <a:t>Soladevanahalli,</a:t>
            </a:r>
            <a:r>
              <a:rPr lang="en-IN" sz="1600" dirty="0">
                <a:ea typeface="+mj-ea"/>
                <a:cs typeface="+mj-cs"/>
              </a:rPr>
              <a:t> Bengaluru 560 107</a:t>
            </a:r>
            <a:endParaRPr kumimoji="0" lang="en-IN" sz="20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E6AF9B-DBF8-4472-9211-796656BBF0C4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b="1" dirty="0"/>
              <a:t>DEPARTMENT OF ARTIFICIAL INTELLIGENCE AND MACHINE LEARNING</a:t>
            </a:r>
          </a:p>
          <a:p>
            <a:pPr algn="ctr"/>
            <a:r>
              <a:rPr lang="en-US" sz="800" b="1" dirty="0"/>
              <a:t>ACHARYA INSTITUTE OF TECHNOLOGY</a:t>
            </a:r>
            <a:endParaRPr lang="en-IN" sz="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AI &amp; ML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381000"/>
            <a:ext cx="8229600" cy="1143000"/>
          </a:xfrm>
        </p:spPr>
        <p:txBody>
          <a:bodyPr wrap="square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1E252E"/>
                </a:solidFill>
                <a:latin typeface="Times New Roman"/>
              </a:rPr>
              <a:t>Contents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256FDA-A5AE-4639-8C71-AB1AF8C3BE0C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b="1" dirty="0"/>
              <a:t>DEPARTMENT OF ARTIFICIAL INTELLIGENCE AND MACHINE LEARNING</a:t>
            </a:r>
          </a:p>
          <a:p>
            <a:pPr algn="ctr"/>
            <a:r>
              <a:rPr lang="en-US" sz="800" b="1" dirty="0"/>
              <a:t>ACHARYA INSTITUTE OF TECHNOLOGY</a:t>
            </a:r>
            <a:endParaRPr lang="en-IN" sz="800" b="1" dirty="0"/>
          </a:p>
        </p:txBody>
      </p:sp>
      <p:sp>
        <p:nvSpPr>
          <p:cNvPr id="24" name="Oval 23"/>
          <p:cNvSpPr/>
          <p:nvPr/>
        </p:nvSpPr>
        <p:spPr>
          <a:xfrm>
            <a:off x="2743200" y="1344168"/>
            <a:ext cx="384048" cy="384048"/>
          </a:xfrm>
          <a:prstGeom prst="ellipse">
            <a:avLst/>
          </a:prstGeom>
          <a:solidFill>
            <a:srgbClr val="F28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3552" y="1298448"/>
            <a:ext cx="344728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500" b="1" i="0">
                <a:solidFill>
                  <a:srgbClr val="1E252E"/>
                </a:solidFill>
                <a:latin typeface="Times New Roman"/>
              </a:rPr>
              <a:t>Problem Statement &amp; Objective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E7883"/>
                </a:solidFill>
                <a:latin typeface="Times New Roman"/>
              </a:rPr>
              <a:t>Why static call graphs are the bottleneck</a:t>
            </a:r>
          </a:p>
        </p:txBody>
      </p:sp>
      <p:sp>
        <p:nvSpPr>
          <p:cNvPr id="26" name="Oval 25"/>
          <p:cNvSpPr/>
          <p:nvPr/>
        </p:nvSpPr>
        <p:spPr>
          <a:xfrm>
            <a:off x="2743200" y="2304287"/>
            <a:ext cx="384048" cy="384048"/>
          </a:xfrm>
          <a:prstGeom prst="ellipse">
            <a:avLst/>
          </a:prstGeom>
          <a:solidFill>
            <a:srgbClr val="F28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73552" y="2258568"/>
            <a:ext cx="344728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500" b="1" i="0">
                <a:solidFill>
                  <a:srgbClr val="1E252E"/>
                </a:solidFill>
                <a:latin typeface="Times New Roman"/>
              </a:rPr>
              <a:t>Flow / Methodology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E7883"/>
                </a:solidFill>
                <a:latin typeface="Times New Roman"/>
              </a:rPr>
              <a:t>The measurement pipeline, and what makes it a measurement</a:t>
            </a:r>
          </a:p>
        </p:txBody>
      </p:sp>
      <p:sp>
        <p:nvSpPr>
          <p:cNvPr id="28" name="Oval 27"/>
          <p:cNvSpPr/>
          <p:nvPr/>
        </p:nvSpPr>
        <p:spPr>
          <a:xfrm>
            <a:off x="2743200" y="3264408"/>
            <a:ext cx="384048" cy="384048"/>
          </a:xfrm>
          <a:prstGeom prst="ellipse">
            <a:avLst/>
          </a:prstGeom>
          <a:solidFill>
            <a:srgbClr val="F28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73552" y="3218688"/>
            <a:ext cx="344728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500" b="1" i="0">
                <a:solidFill>
                  <a:srgbClr val="1E252E"/>
                </a:solidFill>
                <a:latin typeface="Times New Roman"/>
              </a:rPr>
              <a:t>Demo of Project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E7883"/>
                </a:solidFill>
                <a:latin typeface="Times New Roman"/>
              </a:rPr>
              <a:t>A call graph missing a real call, live</a:t>
            </a:r>
          </a:p>
        </p:txBody>
      </p:sp>
      <p:sp>
        <p:nvSpPr>
          <p:cNvPr id="30" name="Oval 29"/>
          <p:cNvSpPr/>
          <p:nvPr/>
        </p:nvSpPr>
        <p:spPr>
          <a:xfrm>
            <a:off x="2743200" y="4224528"/>
            <a:ext cx="384048" cy="384048"/>
          </a:xfrm>
          <a:prstGeom prst="ellipse">
            <a:avLst/>
          </a:prstGeom>
          <a:solidFill>
            <a:srgbClr val="F28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73552" y="4178808"/>
            <a:ext cx="344728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500" b="1" i="0">
                <a:solidFill>
                  <a:srgbClr val="1E252E"/>
                </a:solidFill>
                <a:latin typeface="Times New Roman"/>
              </a:rPr>
              <a:t>Results / Output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E7883"/>
                </a:solidFill>
                <a:latin typeface="Times New Roman"/>
              </a:rPr>
              <a:t>Phase 0, measured</a:t>
            </a:r>
          </a:p>
        </p:txBody>
      </p:sp>
      <p:sp>
        <p:nvSpPr>
          <p:cNvPr id="32" name="Oval 31"/>
          <p:cNvSpPr/>
          <p:nvPr/>
        </p:nvSpPr>
        <p:spPr>
          <a:xfrm>
            <a:off x="2743200" y="5184648"/>
            <a:ext cx="384048" cy="384048"/>
          </a:xfrm>
          <a:prstGeom prst="ellipse">
            <a:avLst/>
          </a:prstGeom>
          <a:solidFill>
            <a:srgbClr val="F28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73552" y="5138928"/>
            <a:ext cx="344728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500" b="1" i="0">
                <a:solidFill>
                  <a:srgbClr val="1E252E"/>
                </a:solidFill>
                <a:latin typeface="Times New Roman"/>
              </a:rPr>
              <a:t>Status of Paper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E7883"/>
                </a:solidFill>
                <a:latin typeface="Times New Roman"/>
              </a:rPr>
              <a:t>Submission and proof</a:t>
            </a:r>
          </a:p>
        </p:txBody>
      </p:sp>
      <p:sp>
        <p:nvSpPr>
          <p:cNvPr id="34" name="Oval 33"/>
          <p:cNvSpPr/>
          <p:nvPr/>
        </p:nvSpPr>
        <p:spPr>
          <a:xfrm>
            <a:off x="6995159" y="1344168"/>
            <a:ext cx="384048" cy="384048"/>
          </a:xfrm>
          <a:prstGeom prst="ellipse">
            <a:avLst/>
          </a:prstGeom>
          <a:solidFill>
            <a:srgbClr val="F28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25511" y="1298448"/>
            <a:ext cx="344728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500" b="1" i="0">
                <a:solidFill>
                  <a:srgbClr val="1E252E"/>
                </a:solidFill>
                <a:latin typeface="Times New Roman"/>
              </a:rPr>
              <a:t>Proposed vs Actual Outcome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E7883"/>
                </a:solidFill>
                <a:latin typeface="Times New Roman"/>
              </a:rPr>
              <a:t>Targets, deliveries and the surprises</a:t>
            </a:r>
          </a:p>
        </p:txBody>
      </p:sp>
      <p:sp>
        <p:nvSpPr>
          <p:cNvPr id="36" name="Oval 35"/>
          <p:cNvSpPr/>
          <p:nvPr/>
        </p:nvSpPr>
        <p:spPr>
          <a:xfrm>
            <a:off x="6995159" y="2304287"/>
            <a:ext cx="384048" cy="384048"/>
          </a:xfrm>
          <a:prstGeom prst="ellipse">
            <a:avLst/>
          </a:prstGeom>
          <a:solidFill>
            <a:srgbClr val="F28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1" y="2258568"/>
            <a:ext cx="344728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500" b="1" i="0">
                <a:solidFill>
                  <a:srgbClr val="1E252E"/>
                </a:solidFill>
                <a:latin typeface="Times New Roman"/>
              </a:rPr>
              <a:t>Conclusion, Deliverables &amp; Impact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E7883"/>
                </a:solidFill>
                <a:latin typeface="Times New Roman"/>
              </a:rPr>
              <a:t>What ships and who it helps</a:t>
            </a:r>
          </a:p>
        </p:txBody>
      </p:sp>
      <p:sp>
        <p:nvSpPr>
          <p:cNvPr id="38" name="Oval 37"/>
          <p:cNvSpPr/>
          <p:nvPr/>
        </p:nvSpPr>
        <p:spPr>
          <a:xfrm>
            <a:off x="6995159" y="3264408"/>
            <a:ext cx="384048" cy="384048"/>
          </a:xfrm>
          <a:prstGeom prst="ellipse">
            <a:avLst/>
          </a:prstGeom>
          <a:solidFill>
            <a:srgbClr val="F28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25511" y="3218688"/>
            <a:ext cx="344728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500" b="1" i="0">
                <a:solidFill>
                  <a:srgbClr val="1E252E"/>
                </a:solidFill>
                <a:latin typeface="Times New Roman"/>
              </a:rPr>
              <a:t>Individual Responsibilities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E7883"/>
                </a:solidFill>
                <a:latin typeface="Times New Roman"/>
              </a:rPr>
              <a:t>Workstream ownership</a:t>
            </a:r>
          </a:p>
        </p:txBody>
      </p:sp>
      <p:sp>
        <p:nvSpPr>
          <p:cNvPr id="40" name="Oval 39"/>
          <p:cNvSpPr/>
          <p:nvPr/>
        </p:nvSpPr>
        <p:spPr>
          <a:xfrm>
            <a:off x="6995159" y="4224528"/>
            <a:ext cx="384048" cy="384048"/>
          </a:xfrm>
          <a:prstGeom prst="ellipse">
            <a:avLst/>
          </a:prstGeom>
          <a:solidFill>
            <a:srgbClr val="F28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25511" y="4178808"/>
            <a:ext cx="344728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500" b="1" i="0">
                <a:solidFill>
                  <a:srgbClr val="1E252E"/>
                </a:solidFill>
                <a:latin typeface="Times New Roman"/>
              </a:rPr>
              <a:t>Gantt Chart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E7883"/>
                </a:solidFill>
                <a:latin typeface="Times New Roman"/>
              </a:rPr>
              <a:t>Workstreams delivered, and what remains</a:t>
            </a:r>
          </a:p>
        </p:txBody>
      </p:sp>
      <p:sp>
        <p:nvSpPr>
          <p:cNvPr id="42" name="Oval 41"/>
          <p:cNvSpPr/>
          <p:nvPr/>
        </p:nvSpPr>
        <p:spPr>
          <a:xfrm>
            <a:off x="6995159" y="5184648"/>
            <a:ext cx="384048" cy="384048"/>
          </a:xfrm>
          <a:prstGeom prst="ellipse">
            <a:avLst/>
          </a:prstGeom>
          <a:solidFill>
            <a:srgbClr val="F28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25511" y="5138928"/>
            <a:ext cx="344728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500" b="1" i="0">
                <a:solidFill>
                  <a:srgbClr val="1E252E"/>
                </a:solidFill>
                <a:latin typeface="Times New Roman"/>
              </a:rPr>
              <a:t>References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E7883"/>
                </a:solidFill>
                <a:latin typeface="Times New Roman"/>
              </a:rPr>
              <a:t>IEEE format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0" y="59618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6E7883"/>
                </a:solidFill>
                <a:latin typeface="Times New Roman"/>
              </a:rPr>
              <a:t>Content is presented as bullets, figures and tables throughout — no paragraphs.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AI &amp; ML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99013"/>
            <a:ext cx="8229600" cy="838200"/>
          </a:xfrm>
        </p:spPr>
        <p:txBody>
          <a:bodyPr wrap="square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1E252E"/>
                </a:solidFill>
                <a:latin typeface="Times New Roman"/>
              </a:rPr>
              <a:t>1.  Problem Statement &amp; Objective</a:t>
            </a:r>
            <a:endParaRPr lang="en-IN" sz="32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A1DB53-C7B5-447D-92BE-95CEA5CB041B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b="1" dirty="0"/>
              <a:t>DEPARTMENT OF ARTIFICIAL INTELLIGENCE AND MACHINE LEARNING</a:t>
            </a:r>
          </a:p>
          <a:p>
            <a:pPr algn="ctr"/>
            <a:r>
              <a:rPr lang="en-US" sz="800" b="1" dirty="0"/>
              <a:t>ACHARYA INSTITUTE OF TECHNOLOGY</a:t>
            </a:r>
            <a:endParaRPr lang="en-IN" sz="800" b="1" dirty="0"/>
          </a:p>
        </p:txBody>
      </p:sp>
      <p:sp>
        <p:nvSpPr>
          <p:cNvPr id="24" name="Rounded Rectangle 23"/>
          <p:cNvSpPr/>
          <p:nvPr/>
        </p:nvSpPr>
        <p:spPr>
          <a:xfrm>
            <a:off x="2743200" y="1078992"/>
            <a:ext cx="3977639" cy="2788920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944368" y="1261872"/>
            <a:ext cx="357530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F28E01"/>
                </a:solidFill>
                <a:latin typeface="Times New Roman"/>
              </a:rPr>
              <a:t>THE PROBLEM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44368" y="1581912"/>
            <a:ext cx="3575303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250" b="1">
                <a:solidFill>
                  <a:srgbClr val="F28E01"/>
                </a:solidFill>
                <a:latin typeface="Times New Roman"/>
              </a:rPr>
              <a:t>•  </a:t>
            </a:r>
            <a:r>
              <a:rPr sz="1250" b="0">
                <a:solidFill>
                  <a:srgbClr val="1E252E"/>
                </a:solidFill>
                <a:latin typeface="Times New Roman"/>
              </a:rPr>
              <a:t>Repository-level modernization is bottlenecked by call-graph quality, not model capacity.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250" b="1">
                <a:solidFill>
                  <a:srgbClr val="F28E01"/>
                </a:solidFill>
                <a:latin typeface="Times New Roman"/>
              </a:rPr>
              <a:t>•  </a:t>
            </a:r>
            <a:r>
              <a:rPr sz="1250" b="0">
                <a:solidFill>
                  <a:srgbClr val="1E252E"/>
                </a:solidFill>
                <a:latin typeface="Times New Roman"/>
              </a:rPr>
              <a:t>Python decides many calls at run time — getattr dispatch, importlib, plugin registries, DI containers.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250" b="1">
                <a:solidFill>
                  <a:srgbClr val="F28E01"/>
                </a:solidFill>
                <a:latin typeface="Times New Roman"/>
              </a:rPr>
              <a:t>•  </a:t>
            </a:r>
            <a:r>
              <a:rPr sz="1250" b="0">
                <a:solidFill>
                  <a:srgbClr val="1E252E"/>
                </a:solidFill>
                <a:latin typeface="Times New Roman"/>
              </a:rPr>
              <a:t>Static extractors cannot see those edges — and no one has measured how many are lost.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250" b="1">
                <a:solidFill>
                  <a:srgbClr val="F28E01"/>
                </a:solidFill>
                <a:latin typeface="Times New Roman"/>
              </a:rPr>
              <a:t>•  </a:t>
            </a:r>
            <a:r>
              <a:rPr sz="1250" b="0">
                <a:solidFill>
                  <a:srgbClr val="1E252E"/>
                </a:solidFill>
                <a:latin typeface="Times New Roman"/>
              </a:rPr>
              <a:t>A silently lossy graph makes an LLM code agent confidently wrong.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95159" y="1078992"/>
            <a:ext cx="3977640" cy="2788920"/>
          </a:xfrm>
          <a:prstGeom prst="roundRect">
            <a:avLst>
              <a:gd name="adj" fmla="val 3500"/>
            </a:avLst>
          </a:prstGeom>
          <a:solidFill>
            <a:srgbClr val="2B3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96327" y="1261872"/>
            <a:ext cx="35753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F28E01"/>
                </a:solidFill>
                <a:latin typeface="Times New Roman"/>
              </a:rPr>
              <a:t>WHAT ONE MISS LOOKS LIKE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7" y="1609343"/>
            <a:ext cx="3575304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>
                <a:solidFill>
                  <a:srgbClr val="9FADBC"/>
                </a:solidFill>
                <a:latin typeface="Times New Roman"/>
              </a:rPr>
              <a:t>STATIC  (PyCG 0.0.8)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50" b="0" i="0">
                <a:solidFill>
                  <a:srgbClr val="FFFFFF"/>
                </a:solidFill>
                <a:latin typeface="Courier New"/>
              </a:rPr>
              <a:t>  main → dispatch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50" b="0" i="0">
                <a:solidFill>
                  <a:srgbClr val="FFFFFF"/>
                </a:solidFill>
                <a:latin typeface="Courier New"/>
              </a:rPr>
              <a:t>  dispatch → &lt;builtin&gt;.getattr</a:t>
            </a:r>
          </a:p>
          <a:p>
            <a:pPr algn="l">
              <a:lnSpc>
                <a:spcPct val="9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050" b="1">
                <a:solidFill>
                  <a:srgbClr val="9FADBC"/>
                </a:solidFill>
                <a:latin typeface="Times New Roman"/>
              </a:rPr>
              <a:t>RUNTIME  (sys.setprofile)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50" b="0" i="0">
                <a:solidFill>
                  <a:srgbClr val="FFFFFF"/>
                </a:solidFill>
                <a:latin typeface="Courier New"/>
              </a:rPr>
              <a:t>  main → dispatch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50" b="0" i="0">
                <a:solidFill>
                  <a:srgbClr val="FFFFFF"/>
                </a:solidFill>
                <a:latin typeface="Courier New"/>
              </a:rPr>
              <a:t>  dispatch → handle_email</a:t>
            </a:r>
          </a:p>
          <a:p>
            <a:pPr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FFB09A"/>
                </a:solidFill>
                <a:latin typeface="Times New Roman"/>
              </a:rPr>
              <a:t>✕  the second edge is real, executed, and invisible to static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02336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F28E01"/>
                </a:solidFill>
                <a:latin typeface="Times New Roman"/>
              </a:rPr>
              <a:t>OBJECTIVES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0" y="4297680"/>
            <a:ext cx="1920240" cy="1783080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2926080" y="4462272"/>
            <a:ext cx="365760" cy="365760"/>
          </a:xfrm>
          <a:prstGeom prst="ellipse">
            <a:avLst/>
          </a:prstGeom>
          <a:solidFill>
            <a:srgbClr val="F28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O1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4901184"/>
            <a:ext cx="15544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1E252E"/>
                </a:solidFill>
                <a:latin typeface="Times New Roman"/>
              </a:rPr>
              <a:t>Measure the miss rate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E7883"/>
                </a:solidFill>
                <a:latin typeface="Times New Roman"/>
              </a:rPr>
              <a:t>Recall of static extraction against runtime-observed edges (H2a)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46320" y="4297680"/>
            <a:ext cx="1920240" cy="1783080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5029200" y="4462272"/>
            <a:ext cx="365760" cy="365760"/>
          </a:xfrm>
          <a:prstGeom prst="ellipse">
            <a:avLst/>
          </a:prstGeom>
          <a:solidFill>
            <a:srgbClr val="F28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O2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4901184"/>
            <a:ext cx="15544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1E252E"/>
                </a:solidFill>
                <a:latin typeface="Times New Roman"/>
              </a:rPr>
              <a:t>Name the mechanism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E7883"/>
                </a:solidFill>
                <a:latin typeface="Times New Roman"/>
              </a:rPr>
              <a:t>Show misses concentrate in identifiable construct classes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49440" y="4297680"/>
            <a:ext cx="1920240" cy="1783080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7132320" y="4462272"/>
            <a:ext cx="365760" cy="365760"/>
          </a:xfrm>
          <a:prstGeom prst="ellipse">
            <a:avLst/>
          </a:prstGeom>
          <a:solidFill>
            <a:srgbClr val="F28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O3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4901184"/>
            <a:ext cx="15544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1E252E"/>
                </a:solidFill>
                <a:latin typeface="Times New Roman"/>
              </a:rPr>
              <a:t>Release DynBench-Core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E7883"/>
                </a:solidFill>
                <a:latin typeface="Times New Roman"/>
              </a:rPr>
              <a:t>Pinned repos, replayable workloads, reference edge sets, harness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52560" y="4297680"/>
            <a:ext cx="1920240" cy="1783080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9235440" y="4462272"/>
            <a:ext cx="365760" cy="365760"/>
          </a:xfrm>
          <a:prstGeom prst="ellipse">
            <a:avLst/>
          </a:prstGeom>
          <a:solidFill>
            <a:srgbClr val="F28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O4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4901184"/>
            <a:ext cx="15544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1E252E"/>
                </a:solidFill>
                <a:latin typeface="Times New Roman"/>
              </a:rPr>
              <a:t>Report feasibility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E7883"/>
                </a:solidFill>
                <a:latin typeface="Times New Roman"/>
              </a:rPr>
              <a:t>What it costs to trace real projects at corpus scale</a:t>
            </a:r>
          </a:p>
        </p:txBody>
      </p:sp>
    </p:spTree>
    <p:extLst>
      <p:ext uri="{BB962C8B-B14F-4D97-AF65-F5344CB8AC3E}">
        <p14:creationId xmlns:p14="http://schemas.microsoft.com/office/powerpoint/2010/main" val="1003227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AI &amp; ML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99013"/>
            <a:ext cx="8229600" cy="838200"/>
          </a:xfrm>
        </p:spPr>
        <p:txBody>
          <a:bodyPr wrap="square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1E252E"/>
                </a:solidFill>
                <a:latin typeface="Times New Roman"/>
              </a:rPr>
              <a:t>2.  Flow / Methodology — Measurement Pipeline  (1 of 2)</a:t>
            </a:r>
            <a:endParaRPr lang="en-IN" sz="32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A1DB53-C7B5-447D-92BE-95CEA5CB041B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b="1" dirty="0"/>
              <a:t>DEPARTMENT OF ARTIFICIAL INTELLIGENCE AND MACHINE LEARNING</a:t>
            </a:r>
          </a:p>
          <a:p>
            <a:pPr algn="ctr"/>
            <a:r>
              <a:rPr lang="en-US" sz="800" b="1" dirty="0"/>
              <a:t>ACHARYA INSTITUTE OF TECHNOLOGY</a:t>
            </a:r>
            <a:endParaRPr lang="en-IN" sz="800" b="1" dirty="0"/>
          </a:p>
        </p:txBody>
      </p:sp>
      <p:sp>
        <p:nvSpPr>
          <p:cNvPr id="24" name="Rounded Rectangle 23"/>
          <p:cNvSpPr/>
          <p:nvPr/>
        </p:nvSpPr>
        <p:spPr>
          <a:xfrm>
            <a:off x="2743200" y="1078992"/>
            <a:ext cx="2609088" cy="2212848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2944368" y="1280160"/>
            <a:ext cx="402336" cy="402336"/>
          </a:xfrm>
          <a:prstGeom prst="ellipse">
            <a:avLst/>
          </a:prstGeom>
          <a:solidFill>
            <a:srgbClr val="F28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44368" y="1792224"/>
            <a:ext cx="220675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450" b="1" i="0">
                <a:solidFill>
                  <a:srgbClr val="1E252E"/>
                </a:solidFill>
                <a:latin typeface="Times New Roman"/>
              </a:rPr>
              <a:t>Discover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E7883"/>
                </a:solidFill>
                <a:latin typeface="Times New Roman"/>
              </a:rPr>
              <a:t>GitHub search over Python repos with a build file.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44368" y="2889503"/>
            <a:ext cx="2206752" cy="10972"/>
          </a:xfrm>
          <a:prstGeom prst="rect">
            <a:avLst/>
          </a:prstGeom>
          <a:solidFill>
            <a:srgbClr val="D7DD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944368" y="2962656"/>
            <a:ext cx="2206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F28E01"/>
                </a:solidFill>
                <a:latin typeface="Times New Roman"/>
              </a:rPr>
              <a:t>→  </a:t>
            </a:r>
            <a:r>
              <a:rPr sz="1100" b="1">
                <a:solidFill>
                  <a:srgbClr val="1E252E"/>
                </a:solidFill>
                <a:latin typeface="Times New Roman"/>
              </a:rPr>
              <a:t>558 candidates queued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53456" y="1078992"/>
            <a:ext cx="2609088" cy="2212848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5754624" y="1280160"/>
            <a:ext cx="402336" cy="402336"/>
          </a:xfrm>
          <a:prstGeom prst="ellipse">
            <a:avLst/>
          </a:prstGeom>
          <a:solidFill>
            <a:srgbClr val="F28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54624" y="1792224"/>
            <a:ext cx="220675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450" b="1" i="0">
                <a:solidFill>
                  <a:srgbClr val="1E252E"/>
                </a:solidFill>
                <a:latin typeface="Times New Roman"/>
              </a:rPr>
              <a:t>Score density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E7883"/>
                </a:solidFill>
                <a:latin typeface="Times New Roman"/>
              </a:rPr>
              <a:t>AST scorer counts dynamic constructs per KLOC of source only.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54624" y="2889503"/>
            <a:ext cx="2206752" cy="10972"/>
          </a:xfrm>
          <a:prstGeom prst="rect">
            <a:avLst/>
          </a:prstGeom>
          <a:solidFill>
            <a:srgbClr val="D7DD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754624" y="2962656"/>
            <a:ext cx="2206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F28E01"/>
                </a:solidFill>
                <a:latin typeface="Times New Roman"/>
              </a:rPr>
              <a:t>→  </a:t>
            </a:r>
            <a:r>
              <a:rPr sz="1100" b="1">
                <a:solidFill>
                  <a:srgbClr val="1E252E"/>
                </a:solidFill>
                <a:latin typeface="Times New Roman"/>
              </a:rPr>
              <a:t>LOW / MED / HIGH stratum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63712" y="1078992"/>
            <a:ext cx="2609088" cy="2212848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564880" y="1280160"/>
            <a:ext cx="402336" cy="402336"/>
          </a:xfrm>
          <a:prstGeom prst="ellipse">
            <a:avLst/>
          </a:prstGeom>
          <a:solidFill>
            <a:srgbClr val="F28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64880" y="1792224"/>
            <a:ext cx="220675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450" b="1" i="0">
                <a:solidFill>
                  <a:srgbClr val="1E252E"/>
                </a:solidFill>
                <a:latin typeface="Times New Roman"/>
              </a:rPr>
              <a:t>Triage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E7883"/>
                </a:solidFill>
                <a:latin typeface="Times New Roman"/>
              </a:rPr>
              <a:t>Containerised install + test run, one repo, one Python, one attempt.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64880" y="2889503"/>
            <a:ext cx="2206752" cy="10972"/>
          </a:xfrm>
          <a:prstGeom prst="rect">
            <a:avLst/>
          </a:prstGeom>
          <a:solidFill>
            <a:srgbClr val="D7DD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564880" y="2962656"/>
            <a:ext cx="2206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F28E01"/>
                </a:solidFill>
                <a:latin typeface="Times New Roman"/>
              </a:rPr>
              <a:t>→  </a:t>
            </a:r>
            <a:r>
              <a:rPr sz="1100" b="1">
                <a:solidFill>
                  <a:srgbClr val="1E252E"/>
                </a:solidFill>
                <a:latin typeface="Times New Roman"/>
              </a:rPr>
              <a:t>GREEN / AMBER / RED + pinned lockfile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43200" y="3529583"/>
            <a:ext cx="2609088" cy="2212848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2944368" y="3730751"/>
            <a:ext cx="402336" cy="402336"/>
          </a:xfrm>
          <a:prstGeom prst="ellipse">
            <a:avLst/>
          </a:prstGeom>
          <a:solidFill>
            <a:srgbClr val="F28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44368" y="4242816"/>
            <a:ext cx="220675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450" b="1" i="0">
                <a:solidFill>
                  <a:srgbClr val="1E252E"/>
                </a:solidFill>
                <a:latin typeface="Times New Roman"/>
              </a:rPr>
              <a:t>Capture workloads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E7883"/>
                </a:solidFill>
                <a:latin typeface="Times New Roman"/>
              </a:rPr>
              <a:t>Annotators record ≥3 replayable runs per repo, verified twice.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44368" y="5340095"/>
            <a:ext cx="2206752" cy="10972"/>
          </a:xfrm>
          <a:prstGeom prst="rect">
            <a:avLst/>
          </a:prstGeom>
          <a:solidFill>
            <a:srgbClr val="D7DD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2944368" y="5413247"/>
            <a:ext cx="2206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F28E01"/>
                </a:solidFill>
                <a:latin typeface="Times New Roman"/>
              </a:rPr>
              <a:t>→  </a:t>
            </a:r>
            <a:r>
              <a:rPr sz="1100" b="1">
                <a:solidFill>
                  <a:srgbClr val="1E252E"/>
                </a:solidFill>
                <a:latin typeface="Times New Roman"/>
              </a:rPr>
              <a:t>The execution oracle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553456" y="3529583"/>
            <a:ext cx="2609088" cy="2212848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5754624" y="3730751"/>
            <a:ext cx="402336" cy="402336"/>
          </a:xfrm>
          <a:prstGeom prst="ellipse">
            <a:avLst/>
          </a:prstGeom>
          <a:solidFill>
            <a:srgbClr val="F28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54624" y="4242816"/>
            <a:ext cx="220675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450" b="1" i="0">
                <a:solidFill>
                  <a:srgbClr val="1E252E"/>
                </a:solidFill>
                <a:latin typeface="Times New Roman"/>
              </a:rPr>
              <a:t>Extract both graphs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E7883"/>
                </a:solidFill>
                <a:latin typeface="Times New Roman"/>
              </a:rPr>
              <a:t>Static: PyCG 0.0.8 + Pyright 1.1.411.  Dynamic: sys.monitoring tracer.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54624" y="5340095"/>
            <a:ext cx="2206752" cy="10972"/>
          </a:xfrm>
          <a:prstGeom prst="rect">
            <a:avLst/>
          </a:prstGeom>
          <a:solidFill>
            <a:srgbClr val="D7DD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5754624" y="5413247"/>
            <a:ext cx="2206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F28E01"/>
                </a:solidFill>
                <a:latin typeface="Times New Roman"/>
              </a:rPr>
              <a:t>→  </a:t>
            </a:r>
            <a:r>
              <a:rPr sz="1100" b="1">
                <a:solidFill>
                  <a:srgbClr val="1E252E"/>
                </a:solidFill>
                <a:latin typeface="Times New Roman"/>
              </a:rPr>
              <a:t>S  and  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63712" y="3529583"/>
            <a:ext cx="2609088" cy="2212848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8564880" y="3730751"/>
            <a:ext cx="402336" cy="402336"/>
          </a:xfrm>
          <a:prstGeom prst="ellipse">
            <a:avLst/>
          </a:prstGeom>
          <a:solidFill>
            <a:srgbClr val="F28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64880" y="4242816"/>
            <a:ext cx="220675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450" b="1" i="0">
                <a:solidFill>
                  <a:srgbClr val="1E252E"/>
                </a:solidFill>
                <a:latin typeface="Times New Roman"/>
              </a:rPr>
              <a:t>Fuse &amp; measure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E7883"/>
                </a:solidFill>
                <a:latin typeface="Times New Roman"/>
              </a:rPr>
              <a:t>Dual-state CPG, fused on read; recall over the comparable universe.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64880" y="5340095"/>
            <a:ext cx="2206752" cy="10972"/>
          </a:xfrm>
          <a:prstGeom prst="rect">
            <a:avLst/>
          </a:prstGeom>
          <a:solidFill>
            <a:srgbClr val="D7DD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564880" y="5413247"/>
            <a:ext cx="2206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F28E01"/>
                </a:solidFill>
                <a:latin typeface="Times New Roman"/>
              </a:rPr>
              <a:t>→  </a:t>
            </a:r>
            <a:r>
              <a:rPr sz="1100" b="1">
                <a:solidFill>
                  <a:srgbClr val="1E252E"/>
                </a:solidFill>
                <a:latin typeface="Times New Roman"/>
              </a:rPr>
              <a:t>The H2a number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0" y="588873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E7883"/>
                </a:solidFill>
                <a:latin typeface="Times New Roman"/>
              </a:rPr>
              <a:t>Every stage runs inside a container pinned by digest, never by tag — </a:t>
            </a:r>
            <a:r>
              <a:rPr sz="1150" b="1">
                <a:solidFill>
                  <a:srgbClr val="1E252E"/>
                </a:solidFill>
                <a:latin typeface="Times New Roman"/>
              </a:rPr>
              <a:t>the host never traces.</a:t>
            </a:r>
          </a:p>
        </p:txBody>
      </p:sp>
    </p:spTree>
    <p:extLst>
      <p:ext uri="{BB962C8B-B14F-4D97-AF65-F5344CB8AC3E}">
        <p14:creationId xmlns:p14="http://schemas.microsoft.com/office/powerpoint/2010/main" val="1003227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AI &amp; ML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99013"/>
            <a:ext cx="8229600" cy="838200"/>
          </a:xfrm>
        </p:spPr>
        <p:txBody>
          <a:bodyPr wrap="square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1E252E"/>
                </a:solidFill>
                <a:latin typeface="Times New Roman"/>
              </a:rPr>
              <a:t>2.  Flow / Methodology — What Makes It a Measurement  (2 of 2)</a:t>
            </a:r>
            <a:endParaRPr lang="en-IN" sz="32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A1DB53-C7B5-447D-92BE-95CEA5CB041B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b="1" dirty="0"/>
              <a:t>DEPARTMENT OF ARTIFICIAL INTELLIGENCE AND MACHINE LEARNING</a:t>
            </a:r>
          </a:p>
          <a:p>
            <a:pPr algn="ctr"/>
            <a:r>
              <a:rPr lang="en-US" sz="800" b="1" dirty="0"/>
              <a:t>ACHARYA INSTITUTE OF TECHNOLOGY</a:t>
            </a:r>
            <a:endParaRPr lang="en-IN" sz="800" b="1" dirty="0"/>
          </a:p>
        </p:txBody>
      </p:sp>
      <p:sp>
        <p:nvSpPr>
          <p:cNvPr id="24" name="Rounded Rectangle 23"/>
          <p:cNvSpPr/>
          <p:nvPr/>
        </p:nvSpPr>
        <p:spPr>
          <a:xfrm>
            <a:off x="2743200" y="1078992"/>
            <a:ext cx="3749039" cy="3017520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944368" y="1261872"/>
            <a:ext cx="334670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F28E01"/>
                </a:solidFill>
                <a:latin typeface="Times New Roman"/>
              </a:rPr>
              <a:t>IDENTITY IS PINNED BEFORE ANYTHING RUNS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44368" y="1609343"/>
            <a:ext cx="3346703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200" b="1" i="0">
                <a:solidFill>
                  <a:srgbClr val="1E252E"/>
                </a:solidFill>
                <a:latin typeface="Times New Roman"/>
              </a:rPr>
              <a:t>Repo identity — all five required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050" b="0" i="0">
                <a:solidFill>
                  <a:srgbClr val="0F6C8C"/>
                </a:solidFill>
                <a:latin typeface="Courier New"/>
              </a:rPr>
              <a:t>(repo_url, sha, pyver,
 base_image_digest, lockfile_sha256)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200" b="1" i="0">
                <a:solidFill>
                  <a:srgbClr val="1E252E"/>
                </a:solidFill>
                <a:latin typeface="Times New Roman"/>
              </a:rPr>
              <a:t>Node identity — frozen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0F6C8C"/>
                </a:solidFill>
                <a:latin typeface="Courier New"/>
              </a:rPr>
              <a:t>(repo_url, sha, relative_path,
 qualified_symbol)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100" b="1">
                <a:solidFill>
                  <a:srgbClr val="1E252E"/>
                </a:solidFill>
                <a:latin typeface="Times New Roman"/>
              </a:rPr>
              <a:t>Line numbers are deliberately excluded</a:t>
            </a:r>
            <a:r>
              <a:rPr sz="1100" b="0">
                <a:solidFill>
                  <a:srgbClr val="6E7883"/>
                </a:solidFill>
                <a:latin typeface="Times New Roman"/>
              </a:rPr>
              <a:t> — they move under reformatting and differ between the static parse and the runtime frame.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E252E"/>
                </a:solidFill>
                <a:latin typeface="Times New Roman"/>
              </a:rPr>
              <a:t>Both graphs are extracted inside the same pinned image, </a:t>
            </a:r>
            <a:r>
              <a:rPr sz="1100" b="0">
                <a:solidFill>
                  <a:srgbClr val="6E7883"/>
                </a:solidFill>
                <a:latin typeface="Times New Roman"/>
              </a:rPr>
              <a:t>so a difference between them is a property of the code — not of the environment it ran in.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48272" y="1078992"/>
            <a:ext cx="4224528" cy="3017520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949440" y="1261872"/>
            <a:ext cx="38221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F28E01"/>
                </a:solidFill>
                <a:latin typeface="Times New Roman"/>
              </a:rPr>
              <a:t>METRIC DISCIPLINE, PRE-REGISTERED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1609343"/>
            <a:ext cx="3822191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00" b="1">
                <a:solidFill>
                  <a:srgbClr val="F28E01"/>
                </a:solidFill>
                <a:latin typeface="Times New Roman"/>
              </a:rPr>
              <a:t>•  </a:t>
            </a:r>
            <a:r>
              <a:rPr sz="1100" b="1">
                <a:solidFill>
                  <a:srgbClr val="1E252E"/>
                </a:solidFill>
                <a:latin typeface="Times New Roman"/>
              </a:rPr>
              <a:t>Comparable universe — </a:t>
            </a:r>
            <a:r>
              <a:rPr sz="1100" b="0">
                <a:solidFill>
                  <a:srgbClr val="6E7883"/>
                </a:solidFill>
                <a:latin typeface="Times New Roman"/>
              </a:rPr>
              <a:t>both ends in-repo and Python-level. C/builtin and third-party are excluded from the primary denominator.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00" b="1">
                <a:solidFill>
                  <a:srgbClr val="F28E01"/>
                </a:solidFill>
                <a:latin typeface="Times New Roman"/>
              </a:rPr>
              <a:t>•  </a:t>
            </a:r>
            <a:r>
              <a:rPr sz="1100" b="1">
                <a:solidFill>
                  <a:srgbClr val="1E252E"/>
                </a:solidFill>
                <a:latin typeface="Times New Roman"/>
              </a:rPr>
              <a:t>Recall = |S∩R| / |R|. </a:t>
            </a:r>
            <a:r>
              <a:rPr sz="1100" b="0">
                <a:solidFill>
                  <a:srgbClr val="6E7883"/>
                </a:solidFill>
                <a:latin typeface="Times New Roman"/>
              </a:rPr>
              <a:t>|S∩R|/|S| is never called precision — it is the workload-confirmed fraction.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00" b="1">
                <a:solidFill>
                  <a:srgbClr val="F28E01"/>
                </a:solidFill>
                <a:latin typeface="Times New Roman"/>
              </a:rPr>
              <a:t>•  </a:t>
            </a:r>
            <a:r>
              <a:rPr sz="1100" b="1">
                <a:solidFill>
                  <a:srgbClr val="1E252E"/>
                </a:solidFill>
                <a:latin typeface="Times New Roman"/>
              </a:rPr>
              <a:t>R is a lower bound, </a:t>
            </a:r>
            <a:r>
              <a:rPr sz="1100" b="0">
                <a:solidFill>
                  <a:srgbClr val="6E7883"/>
                </a:solidFill>
                <a:latin typeface="Times New Roman"/>
              </a:rPr>
              <a:t>conditional on the recorded workloads. That wording is mandatory everywhere.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00" b="1">
                <a:solidFill>
                  <a:srgbClr val="F28E01"/>
                </a:solidFill>
                <a:latin typeface="Times New Roman"/>
              </a:rPr>
              <a:t>•  </a:t>
            </a:r>
            <a:r>
              <a:rPr sz="1100" b="1">
                <a:solidFill>
                  <a:srgbClr val="1E252E"/>
                </a:solidFill>
                <a:latin typeface="Times New Roman"/>
              </a:rPr>
              <a:t>Wrapper transparency — </a:t>
            </a:r>
            <a:r>
              <a:rPr sz="1100" b="0">
                <a:solidFill>
                  <a:srgbClr val="6E7883"/>
                </a:solidFill>
                <a:latin typeface="Times New Roman"/>
              </a:rPr>
              <a:t>caller → wrapper → f collapses to caller → f, so decorators cannot manufacture misses.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00" b="1">
                <a:solidFill>
                  <a:srgbClr val="F28E01"/>
                </a:solidFill>
                <a:latin typeface="Times New Roman"/>
              </a:rPr>
              <a:t>•  </a:t>
            </a:r>
            <a:r>
              <a:rPr sz="1100" b="1">
                <a:solidFill>
                  <a:srgbClr val="1E252E"/>
                </a:solidFill>
                <a:latin typeface="Times New Roman"/>
              </a:rPr>
              <a:t>No LLM-as-judge </a:t>
            </a:r>
            <a:r>
              <a:rPr sz="1100" b="0">
                <a:solidFill>
                  <a:srgbClr val="6E7883"/>
                </a:solidFill>
                <a:latin typeface="Times New Roman"/>
              </a:rPr>
              <a:t>anywhere in validation or headline metrics.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20624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F28E01"/>
                </a:solidFill>
                <a:latin typeface="Times New Roman"/>
              </a:rPr>
              <a:t>FROZEN BEFORE THE CODE THAT CONSUMES THEM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0" y="4480560"/>
            <a:ext cx="2621280" cy="14173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7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926080" y="4645152"/>
            <a:ext cx="2255520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00" b="1">
                <a:solidFill>
                  <a:srgbClr val="1E252E"/>
                </a:solidFill>
                <a:latin typeface="Courier New"/>
              </a:rPr>
              <a:t>metric_spec_h2a.md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050" b="0">
                <a:solidFill>
                  <a:srgbClr val="6E7883"/>
                </a:solidFill>
                <a:latin typeface="Times New Roman"/>
              </a:rPr>
              <a:t>frozen </a:t>
            </a:r>
            <a:r>
              <a:rPr sz="1050" b="1">
                <a:solidFill>
                  <a:srgbClr val="2E7D5B"/>
                </a:solidFill>
                <a:latin typeface="Times New Roman"/>
              </a:rPr>
              <a:t>v1.0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6E7883"/>
                </a:solidFill>
                <a:latin typeface="Times New Roman"/>
              </a:rPr>
              <a:t>Node identity, what counts as an edge, the comparable universe, threats pre-empted.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47360" y="4480560"/>
            <a:ext cx="2621280" cy="14173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7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730240" y="4645152"/>
            <a:ext cx="2255520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00" b="1">
                <a:solidFill>
                  <a:srgbClr val="1E252E"/>
                </a:solidFill>
                <a:latin typeface="Courier New"/>
              </a:rPr>
              <a:t>density_scorer_spec.md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050" b="0">
                <a:solidFill>
                  <a:srgbClr val="6E7883"/>
                </a:solidFill>
                <a:latin typeface="Times New Roman"/>
              </a:rPr>
              <a:t>frozen </a:t>
            </a:r>
            <a:r>
              <a:rPr sz="1050" b="1">
                <a:solidFill>
                  <a:srgbClr val="2E7D5B"/>
                </a:solidFill>
                <a:latin typeface="Times New Roman"/>
              </a:rPr>
              <a:t>v1.0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6E7883"/>
                </a:solidFill>
                <a:latin typeface="Times New Roman"/>
              </a:rPr>
              <a:t>Thresholds calibrated once, on 14 reference repos, before any corpus admission.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51520" y="4480560"/>
            <a:ext cx="2621280" cy="14173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7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534399" y="4645152"/>
            <a:ext cx="2255520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00" b="1">
                <a:solidFill>
                  <a:srgbClr val="1E252E"/>
                </a:solidFill>
                <a:latin typeface="Courier New"/>
              </a:rPr>
              <a:t>config/base_images.json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050" b="0">
                <a:solidFill>
                  <a:srgbClr val="6E7883"/>
                </a:solidFill>
                <a:latin typeface="Times New Roman"/>
              </a:rPr>
              <a:t>frozen </a:t>
            </a:r>
            <a:r>
              <a:rPr sz="1050" b="1">
                <a:solidFill>
                  <a:srgbClr val="2E7D5B"/>
                </a:solidFill>
                <a:latin typeface="Times New Roman"/>
              </a:rPr>
              <a:t>v1.2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6E7883"/>
                </a:solidFill>
                <a:latin typeface="Times New Roman"/>
              </a:rPr>
              <a:t>Five image digests, tool pins, the recipe ladder. Appended to, never edited.</a:t>
            </a:r>
          </a:p>
        </p:txBody>
      </p:sp>
    </p:spTree>
    <p:extLst>
      <p:ext uri="{BB962C8B-B14F-4D97-AF65-F5344CB8AC3E}">
        <p14:creationId xmlns:p14="http://schemas.microsoft.com/office/powerpoint/2010/main" val="1003227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AI &amp; ML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99013"/>
            <a:ext cx="8229600" cy="838200"/>
          </a:xfrm>
        </p:spPr>
        <p:txBody>
          <a:bodyPr wrap="square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1E252E"/>
                </a:solidFill>
                <a:latin typeface="Times New Roman"/>
              </a:rPr>
              <a:t>3.  Demo of Project — A Call Graph Missing a Real Call</a:t>
            </a:r>
            <a:endParaRPr lang="en-IN" sz="32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A1DB53-C7B5-447D-92BE-95CEA5CB041B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b="1" dirty="0"/>
              <a:t>DEPARTMENT OF ARTIFICIAL INTELLIGENCE AND MACHINE LEARNING</a:t>
            </a:r>
          </a:p>
          <a:p>
            <a:pPr algn="ctr"/>
            <a:r>
              <a:rPr lang="en-US" sz="800" b="1" dirty="0"/>
              <a:t>ACHARYA INSTITUTE OF TECHNOLOGY</a:t>
            </a:r>
            <a:endParaRPr lang="en-IN" sz="8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2743200" y="1078992"/>
            <a:ext cx="3611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F28E01"/>
                </a:solidFill>
                <a:latin typeface="Times New Roman"/>
              </a:rPr>
              <a:t>WHAT RUNS ON SCREEN</a:t>
            </a:r>
          </a:p>
        </p:txBody>
      </p:sp>
      <p:sp>
        <p:nvSpPr>
          <p:cNvPr id="25" name="Oval 24"/>
          <p:cNvSpPr/>
          <p:nvPr/>
        </p:nvSpPr>
        <p:spPr>
          <a:xfrm>
            <a:off x="2743200" y="1408176"/>
            <a:ext cx="347472" cy="347472"/>
          </a:xfrm>
          <a:prstGeom prst="ellipse">
            <a:avLst/>
          </a:prstGeom>
          <a:solidFill>
            <a:srgbClr val="F28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1389888"/>
            <a:ext cx="315468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350" b="1" i="0">
                <a:solidFill>
                  <a:srgbClr val="1E252E"/>
                </a:solidFill>
                <a:latin typeface="Times New Roman"/>
              </a:rPr>
              <a:t>fixture.py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E7883"/>
                </a:solidFill>
                <a:latin typeface="Times New Roman"/>
              </a:rPr>
              <a:t>A small plugin registry that dispatches through getattr — the construct class H2a is about.</a:t>
            </a:r>
          </a:p>
        </p:txBody>
      </p:sp>
      <p:sp>
        <p:nvSpPr>
          <p:cNvPr id="27" name="Oval 26"/>
          <p:cNvSpPr/>
          <p:nvPr/>
        </p:nvSpPr>
        <p:spPr>
          <a:xfrm>
            <a:off x="2743200" y="2340864"/>
            <a:ext cx="347472" cy="347472"/>
          </a:xfrm>
          <a:prstGeom prst="ellipse">
            <a:avLst/>
          </a:prstGeom>
          <a:solidFill>
            <a:srgbClr val="F28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2322576"/>
            <a:ext cx="315468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350" b="1" i="0">
                <a:solidFill>
                  <a:srgbClr val="1E252E"/>
                </a:solidFill>
                <a:latin typeface="Times New Roman"/>
              </a:rPr>
              <a:t>PyCG 0.0.8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E7883"/>
                </a:solidFill>
                <a:latin typeface="Times New Roman"/>
              </a:rPr>
              <a:t>Runs in the pinned container against the same file, writes static.json.</a:t>
            </a:r>
          </a:p>
        </p:txBody>
      </p:sp>
      <p:sp>
        <p:nvSpPr>
          <p:cNvPr id="29" name="Oval 28"/>
          <p:cNvSpPr/>
          <p:nvPr/>
        </p:nvSpPr>
        <p:spPr>
          <a:xfrm>
            <a:off x="2743200" y="3273552"/>
            <a:ext cx="347472" cy="347472"/>
          </a:xfrm>
          <a:prstGeom prst="ellipse">
            <a:avLst/>
          </a:prstGeom>
          <a:solidFill>
            <a:srgbClr val="F28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3255264"/>
            <a:ext cx="315468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350" b="1" i="0">
                <a:solidFill>
                  <a:srgbClr val="1E252E"/>
                </a:solidFill>
                <a:latin typeface="Times New Roman"/>
              </a:rPr>
              <a:t>sys.setprofile tracer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E7883"/>
                </a:solidFill>
                <a:latin typeface="Times New Roman"/>
              </a:rPr>
              <a:t>Executes the fixture for real, writes runtime.json.</a:t>
            </a:r>
          </a:p>
        </p:txBody>
      </p:sp>
      <p:sp>
        <p:nvSpPr>
          <p:cNvPr id="31" name="Oval 30"/>
          <p:cNvSpPr/>
          <p:nvPr/>
        </p:nvSpPr>
        <p:spPr>
          <a:xfrm>
            <a:off x="2743200" y="4206240"/>
            <a:ext cx="347472" cy="347472"/>
          </a:xfrm>
          <a:prstGeom prst="ellipse">
            <a:avLst/>
          </a:prstGeom>
          <a:solidFill>
            <a:srgbClr val="F28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187952"/>
            <a:ext cx="315468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350" b="1" i="0">
                <a:solidFill>
                  <a:srgbClr val="1E252E"/>
                </a:solidFill>
                <a:latin typeface="Times New Roman"/>
              </a:rPr>
              <a:t>Web explainer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E7883"/>
                </a:solidFill>
                <a:latin typeface="Times New Roman"/>
              </a:rPr>
              <a:t>React + Cytoscape diffs the two graphs and highlights the edge only one of them has.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29400" y="1078992"/>
            <a:ext cx="4343400" cy="3017520"/>
          </a:xfrm>
          <a:prstGeom prst="roundRect">
            <a:avLst>
              <a:gd name="adj" fmla="val 3500"/>
            </a:avLst>
          </a:prstGeom>
          <a:solidFill>
            <a:srgbClr val="2B3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830568" y="1261872"/>
            <a:ext cx="39410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F28E01"/>
                </a:solidFill>
                <a:latin typeface="Times New Roman"/>
              </a:rPr>
              <a:t>REAL OUTPUT, THIS REPOSITORY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1627631"/>
            <a:ext cx="3941063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>
                <a:solidFill>
                  <a:srgbClr val="9FADBC"/>
                </a:solidFill>
                <a:latin typeface="Courier New"/>
              </a:rPr>
              <a:t>static.json</a:t>
            </a:r>
            <a:r>
              <a:rPr sz="1050" b="0">
                <a:solidFill>
                  <a:srgbClr val="9FADBC"/>
                </a:solidFill>
                <a:latin typeface="Times New Roman"/>
              </a:rPr>
              <a:t>  —  3 edges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 i="0">
                <a:solidFill>
                  <a:srgbClr val="FFFFFF"/>
                </a:solidFill>
                <a:latin typeface="Courier New"/>
              </a:rPr>
              <a:t>  fixture → fixture.main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 i="0">
                <a:solidFill>
                  <a:srgbClr val="FFFFFF"/>
                </a:solidFill>
                <a:latin typeface="Courier New"/>
              </a:rPr>
              <a:t>  fixture.main → PluginRegistry.dispatch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 i="0">
                <a:solidFill>
                  <a:srgbClr val="FFFFFF"/>
                </a:solidFill>
                <a:latin typeface="Courier New"/>
              </a:rPr>
              <a:t>  PluginRegistry.dispatch → &lt;builtin&gt;.getattr</a:t>
            </a:r>
          </a:p>
          <a:p>
            <a:pPr algn="l">
              <a:lnSpc>
                <a:spcPct val="9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050" b="1">
                <a:solidFill>
                  <a:srgbClr val="9FADBC"/>
                </a:solidFill>
                <a:latin typeface="Courier New"/>
              </a:rPr>
              <a:t>runtime.json</a:t>
            </a:r>
            <a:r>
              <a:rPr sz="1050" b="0">
                <a:solidFill>
                  <a:srgbClr val="9FADBC"/>
                </a:solidFill>
                <a:latin typeface="Times New Roman"/>
              </a:rPr>
              <a:t>  —  3 edges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 i="0">
                <a:solidFill>
                  <a:srgbClr val="FFFFFF"/>
                </a:solidFill>
                <a:latin typeface="Courier New"/>
              </a:rPr>
              <a:t>  fixture → fixture.main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 i="0">
                <a:solidFill>
                  <a:srgbClr val="FFFFFF"/>
                </a:solidFill>
                <a:latin typeface="Courier New"/>
              </a:rPr>
              <a:t>  fixture.main → PluginRegistry.dispatch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 i="0">
                <a:solidFill>
                  <a:srgbClr val="FFC46B"/>
                </a:solidFill>
                <a:latin typeface="Courier New"/>
              </a:rPr>
              <a:t>  PluginRegistry.dispatch → PluginRegistry.handle_email</a:t>
            </a:r>
          </a:p>
          <a:p>
            <a:pPr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FFB09A"/>
                </a:solidFill>
                <a:latin typeface="Times New Roman"/>
              </a:rPr>
              <a:t>✕  handle_email is executed every run and appears in no static graph.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29400" y="4297680"/>
            <a:ext cx="4343400" cy="1005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7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830568" y="4462272"/>
            <a:ext cx="394106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>
                <a:solidFill>
                  <a:srgbClr val="F28E01"/>
                </a:solidFill>
                <a:latin typeface="Times New Roman"/>
              </a:rPr>
              <a:t>DEMO SAFETY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1E252E"/>
                </a:solidFill>
                <a:latin typeface="Times New Roman"/>
              </a:rPr>
              <a:t>Warm end-to-end run 0.35–2.7 s</a:t>
            </a:r>
            <a:r>
              <a:rPr sz="1050" b="0">
                <a:solidFill>
                  <a:srgbClr val="6E7883"/>
                </a:solidFill>
                <a:latin typeface="Times New Roman"/>
              </a:rPr>
              <a:t>  ·  15 s fallback threshold  ·  </a:t>
            </a:r>
            <a:r>
              <a:rPr sz="1050" b="0">
                <a:solidFill>
                  <a:srgbClr val="0F6C8C"/>
                </a:solidFill>
                <a:latin typeface="Courier New"/>
              </a:rPr>
              <a:t>restore_fallback.sh</a:t>
            </a:r>
            <a:r>
              <a:rPr sz="1050" b="0">
                <a:solidFill>
                  <a:srgbClr val="6E7883"/>
                </a:solidFill>
                <a:latin typeface="Times New Roman"/>
              </a:rPr>
              <a:t> replays a recorded pair.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0" y="5413248"/>
            <a:ext cx="8229600" cy="804672"/>
          </a:xfrm>
          <a:prstGeom prst="roundRect">
            <a:avLst>
              <a:gd name="adj" fmla="val 3500"/>
            </a:avLst>
          </a:prstGeom>
          <a:solidFill>
            <a:srgbClr val="2B3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2999232" y="5541264"/>
            <a:ext cx="771753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FC46B"/>
                </a:solidFill>
                <a:latin typeface="Times New Roman"/>
              </a:rPr>
              <a:t>The demo is the hypothesis in miniature. </a:t>
            </a:r>
            <a:r>
              <a:rPr sz="1200" b="0">
                <a:solidFill>
                  <a:srgbClr val="FFFFFF"/>
                </a:solidFill>
                <a:latin typeface="Times New Roman"/>
              </a:rPr>
              <a:t>Run the same static-vs-runtime diff across the whole pinned corpus and the result is the H2a number.</a:t>
            </a:r>
          </a:p>
        </p:txBody>
      </p:sp>
    </p:spTree>
    <p:extLst>
      <p:ext uri="{BB962C8B-B14F-4D97-AF65-F5344CB8AC3E}">
        <p14:creationId xmlns:p14="http://schemas.microsoft.com/office/powerpoint/2010/main" val="1003227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AI &amp; ML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99013"/>
            <a:ext cx="8229600" cy="838200"/>
          </a:xfrm>
        </p:spPr>
        <p:txBody>
          <a:bodyPr wrap="square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1E252E"/>
                </a:solidFill>
                <a:latin typeface="Times New Roman"/>
              </a:rPr>
              <a:t>4.  Results / Output — Phase 0, Measured</a:t>
            </a:r>
            <a:endParaRPr lang="en-IN" sz="32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A1DB53-C7B5-447D-92BE-95CEA5CB041B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b="1" dirty="0"/>
              <a:t>DEPARTMENT OF ARTIFICIAL INTELLIGENCE AND MACHINE LEARNING</a:t>
            </a:r>
          </a:p>
          <a:p>
            <a:pPr algn="ctr"/>
            <a:r>
              <a:rPr lang="en-US" sz="800" b="1" dirty="0"/>
              <a:t>ACHARYA INSTITUTE OF TECHNOLOGY</a:t>
            </a:r>
            <a:endParaRPr lang="en-IN" sz="800" b="1" dirty="0"/>
          </a:p>
        </p:txBody>
      </p:sp>
      <p:sp>
        <p:nvSpPr>
          <p:cNvPr id="24" name="Rounded Rectangle 23"/>
          <p:cNvSpPr/>
          <p:nvPr/>
        </p:nvSpPr>
        <p:spPr>
          <a:xfrm>
            <a:off x="2743200" y="1078992"/>
            <a:ext cx="1920240" cy="1426464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907792" y="1197864"/>
            <a:ext cx="159105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3400" b="1" i="0">
                <a:solidFill>
                  <a:srgbClr val="F28E01"/>
                </a:solidFill>
                <a:latin typeface="Times New Roman"/>
              </a:rPr>
              <a:t>558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1E252E"/>
                </a:solidFill>
                <a:latin typeface="Times New Roman"/>
              </a:rPr>
              <a:t>candidates discovered
&amp; scored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6E7883"/>
                </a:solidFill>
                <a:latin typeface="Times New Roman"/>
              </a:rPr>
              <a:t>target ~450 · floor 300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46320" y="1078992"/>
            <a:ext cx="1920240" cy="1426464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010912" y="1197864"/>
            <a:ext cx="159105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3400" b="1" i="0">
                <a:solidFill>
                  <a:srgbClr val="F28E01"/>
                </a:solidFill>
                <a:latin typeface="Times New Roman"/>
              </a:rPr>
              <a:t>100%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1E252E"/>
                </a:solidFill>
                <a:latin typeface="Times New Roman"/>
              </a:rPr>
              <a:t>PyCG failure rate
under Python 3.12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6E7883"/>
                </a:solidFill>
                <a:latin typeface="Times New Roman"/>
              </a:rPr>
              <a:t>it does not run there at all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49440" y="1078992"/>
            <a:ext cx="1920240" cy="1426464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114032" y="1197864"/>
            <a:ext cx="159105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3400" b="1" i="0">
                <a:solidFill>
                  <a:srgbClr val="F28E01"/>
                </a:solidFill>
                <a:latin typeface="Times New Roman"/>
              </a:rPr>
              <a:t>1.6%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1E252E"/>
                </a:solidFill>
                <a:latin typeface="Times New Roman"/>
              </a:rPr>
              <a:t>PyCG failure on library
code under Python 3.10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6E7883"/>
                </a:solidFill>
                <a:latin typeface="Times New Roman"/>
              </a:rPr>
              <a:t>3.1% on test &amp; fixture paths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52560" y="1078992"/>
            <a:ext cx="1920240" cy="1426464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217152" y="1197864"/>
            <a:ext cx="159105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3400" b="1" i="0">
                <a:solidFill>
                  <a:srgbClr val="F28E01"/>
                </a:solidFill>
                <a:latin typeface="Times New Roman"/>
              </a:rPr>
              <a:t>93 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1E252E"/>
                </a:solidFill>
                <a:latin typeface="Times New Roman"/>
              </a:rPr>
              <a:t>click triaged GREEN,
end to end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6E7883"/>
                </a:solidFill>
                <a:latin typeface="Times New Roman"/>
              </a:rPr>
              <a:t>9-package lockfile + sha256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0" y="2706624"/>
            <a:ext cx="3977639" cy="3474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7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2944368" y="2889504"/>
            <a:ext cx="357530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F28E01"/>
                </a:solidFill>
                <a:latin typeface="Times New Roman"/>
              </a:rPr>
              <a:t>STRATIFIED QUEUE &amp; SCORER CALIBRATION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44368" y="3566160"/>
            <a:ext cx="3575303" cy="10972"/>
          </a:xfrm>
          <a:prstGeom prst="rect">
            <a:avLst/>
          </a:prstGeom>
          <a:solidFill>
            <a:srgbClr val="D7DD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2944368" y="327355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1E252E"/>
                </a:solidFill>
                <a:latin typeface="Times New Roman"/>
              </a:rPr>
              <a:t>Stratum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3273552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1E252E"/>
                </a:solidFill>
                <a:latin typeface="Times New Roman"/>
              </a:rPr>
              <a:t>Queue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61888" y="3273552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1E252E"/>
                </a:solidFill>
                <a:latin typeface="Times New Roman"/>
              </a:rPr>
              <a:t>Ref. set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44368" y="363931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6E7883"/>
                </a:solidFill>
                <a:latin typeface="Times New Roman"/>
              </a:rPr>
              <a:t>HIGH  (≥10.0)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0" y="3639312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1E252E"/>
                </a:solidFill>
                <a:latin typeface="Times New Roman"/>
              </a:rPr>
              <a:t>135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61888" y="3639312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1E252E"/>
                </a:solidFill>
                <a:latin typeface="Times New Roman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44368" y="400507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6E7883"/>
                </a:solidFill>
                <a:latin typeface="Times New Roman"/>
              </a:rPr>
              <a:t>MED  (4.0–10.0)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0" y="4005072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1E252E"/>
                </a:solidFill>
                <a:latin typeface="Times New Roman"/>
              </a:rPr>
              <a:t>177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61888" y="4005072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1E252E"/>
                </a:solidFill>
                <a:latin typeface="Times New Roman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44368" y="437083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6E7883"/>
                </a:solidFill>
                <a:latin typeface="Times New Roman"/>
              </a:rPr>
              <a:t>LOW  (&lt;4.0)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0" y="4370832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1E252E"/>
                </a:solidFill>
                <a:latin typeface="Times New Roman"/>
              </a:rPr>
              <a:t>246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61888" y="4370832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1E252E"/>
                </a:solidFill>
                <a:latin typeface="Times New Roman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44368" y="473659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6E7883"/>
                </a:solidFill>
                <a:latin typeface="Times New Roman"/>
              </a:rPr>
              <a:t>TOO_SMALL  (&lt;500 SLOC)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0" y="4736592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1E252E"/>
                </a:solidFill>
                <a:latin typeface="Times New Roman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61888" y="4736592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1E252E"/>
                </a:solidFill>
                <a:latin typeface="Times New Roman"/>
              </a:rPr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44368" y="5394960"/>
            <a:ext cx="3575303" cy="10972"/>
          </a:xfrm>
          <a:prstGeom prst="rect">
            <a:avLst/>
          </a:prstGeom>
          <a:solidFill>
            <a:srgbClr val="D7DD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2944368" y="510235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1E252E"/>
                </a:solidFill>
                <a:latin typeface="Times New Roman"/>
              </a:rPr>
              <a:t>Total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03520" y="5102352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1E252E"/>
                </a:solidFill>
                <a:latin typeface="Times New Roman"/>
              </a:rPr>
              <a:t>558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61888" y="5102352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1E252E"/>
                </a:solidFill>
                <a:latin typeface="Times New Roman"/>
              </a:rPr>
              <a:t>14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44368" y="5650992"/>
            <a:ext cx="357530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1">
                <a:solidFill>
                  <a:srgbClr val="6E7883"/>
                </a:solidFill>
                <a:latin typeface="Times New Roman"/>
              </a:rPr>
              <a:t>Stratum comes from source only — scoring test suites together made every pytest project look HIGH.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995159" y="2706624"/>
            <a:ext cx="3977640" cy="3474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7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196327" y="2889504"/>
            <a:ext cx="35753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F28E01"/>
                </a:solidFill>
                <a:latin typeface="Times New Roman"/>
              </a:rPr>
              <a:t>FOUND BY RUNNING PHASE 0, NOT PLANNING IT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96327" y="3236976"/>
            <a:ext cx="3575304" cy="278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050" b="1">
                <a:solidFill>
                  <a:srgbClr val="F28E01"/>
                </a:solidFill>
                <a:latin typeface="Times New Roman"/>
              </a:rPr>
              <a:t>•  </a:t>
            </a:r>
            <a:r>
              <a:rPr sz="1050" b="1">
                <a:solidFill>
                  <a:srgbClr val="1E252E"/>
                </a:solidFill>
                <a:latin typeface="Times New Roman"/>
              </a:rPr>
              <a:t>PyCG 0.0.8 cannot be imported on Linux — </a:t>
            </a:r>
            <a:r>
              <a:rPr sz="1050" b="0">
                <a:solidFill>
                  <a:srgbClr val="6E7883"/>
                </a:solidFill>
                <a:latin typeface="Times New Roman"/>
              </a:rPr>
              <a:t>it ships PyCG/ but imports pycg. A symlink shim is now mandatory in every image.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050" b="1">
                <a:solidFill>
                  <a:srgbClr val="F28E01"/>
                </a:solidFill>
                <a:latin typeface="Times New Roman"/>
              </a:rPr>
              <a:t>•  </a:t>
            </a:r>
            <a:r>
              <a:rPr sz="1050" b="1">
                <a:solidFill>
                  <a:srgbClr val="1E252E"/>
                </a:solidFill>
                <a:latin typeface="Times New Roman"/>
              </a:rPr>
              <a:t>The scorer's first run had no discrimination — </a:t>
            </a:r>
            <a:r>
              <a:rPr sz="1050" b="0">
                <a:solidFill>
                  <a:srgbClr val="6E7883"/>
                </a:solidFill>
                <a:latin typeface="Times New Roman"/>
              </a:rPr>
              <a:t>10 of 14 repos landed HIGH. Four false-positive classes were fixed before freezing.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050" b="1">
                <a:solidFill>
                  <a:srgbClr val="F28E01"/>
                </a:solidFill>
                <a:latin typeface="Times New Roman"/>
              </a:rPr>
              <a:t>•  </a:t>
            </a:r>
            <a:r>
              <a:rPr sz="1050" b="1">
                <a:solidFill>
                  <a:srgbClr val="1E252E"/>
                </a:solidFill>
                <a:latin typeface="Times New Roman"/>
              </a:rPr>
              <a:t>It corrected two a-priori labels, and was right: </a:t>
            </a:r>
            <a:r>
              <a:rPr sz="1050" b="0">
                <a:solidFill>
                  <a:srgbClr val="6E7883"/>
                </a:solidFill>
                <a:latin typeface="Times New Roman"/>
              </a:rPr>
              <a:t>requests really does call importlib.import_module in its compat layer.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050" b="1">
                <a:solidFill>
                  <a:srgbClr val="F28E01"/>
                </a:solidFill>
                <a:latin typeface="Times New Roman"/>
              </a:rPr>
              <a:t>•  </a:t>
            </a:r>
            <a:r>
              <a:rPr sz="1050" b="1">
                <a:solidFill>
                  <a:srgbClr val="1E252E"/>
                </a:solidFill>
                <a:latin typeface="Times New Roman"/>
              </a:rPr>
              <a:t>ins1's classifier has an ordering bug. </a:t>
            </a:r>
            <a:r>
              <a:rPr sz="1050" b="0">
                <a:solidFill>
                  <a:srgbClr val="6E7883"/>
                </a:solidFill>
                <a:latin typeface="Times New Roman"/>
              </a:rPr>
              <a:t>Kept verbatim as error_class_v10 for audit comparability; the disagreement rate is now reportable.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050" b="1">
                <a:solidFill>
                  <a:srgbClr val="F28E01"/>
                </a:solidFill>
                <a:latin typeface="Times New Roman"/>
              </a:rPr>
              <a:t>•  </a:t>
            </a:r>
            <a:r>
              <a:rPr sz="1050" b="1">
                <a:solidFill>
                  <a:srgbClr val="1E252E"/>
                </a:solidFill>
                <a:latin typeface="Times New Roman"/>
              </a:rPr>
              <a:t>A 16.8× overcount was caught in verification — </a:t>
            </a:r>
            <a:r>
              <a:rPr sz="1050" b="0">
                <a:solidFill>
                  <a:srgbClr val="6E7883"/>
                </a:solidFill>
                <a:latin typeface="Times New Roman"/>
              </a:rPr>
              <a:t>click's collected tests read as 32965 instead of 1965.</a:t>
            </a:r>
          </a:p>
        </p:txBody>
      </p:sp>
    </p:spTree>
    <p:extLst>
      <p:ext uri="{BB962C8B-B14F-4D97-AF65-F5344CB8AC3E}">
        <p14:creationId xmlns:p14="http://schemas.microsoft.com/office/powerpoint/2010/main" val="1003227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AI &amp; ML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99013"/>
            <a:ext cx="8229600" cy="838200"/>
          </a:xfrm>
        </p:spPr>
        <p:txBody>
          <a:bodyPr wrap="square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1E252E"/>
                </a:solidFill>
                <a:latin typeface="Times New Roman"/>
              </a:rPr>
              <a:t>5.  Status of Paper  (1 of 2)</a:t>
            </a:r>
            <a:endParaRPr lang="en-IN" sz="32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A1DB53-C7B5-447D-92BE-95CEA5CB041B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b="1" dirty="0"/>
              <a:t>DEPARTMENT OF ARTIFICIAL INTELLIGENCE AND MACHINE LEARNING</a:t>
            </a:r>
          </a:p>
          <a:p>
            <a:pPr algn="ctr"/>
            <a:r>
              <a:rPr lang="en-US" sz="800" b="1" dirty="0"/>
              <a:t>ACHARYA INSTITUTE OF TECHNOLOGY</a:t>
            </a:r>
            <a:endParaRPr lang="en-IN" sz="800" b="1" dirty="0"/>
          </a:p>
        </p:txBody>
      </p:sp>
      <p:sp>
        <p:nvSpPr>
          <p:cNvPr id="24" name="Rounded Rectangle 23"/>
          <p:cNvSpPr/>
          <p:nvPr/>
        </p:nvSpPr>
        <p:spPr>
          <a:xfrm>
            <a:off x="2743200" y="1078992"/>
            <a:ext cx="8229600" cy="2103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7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999232" y="1280160"/>
            <a:ext cx="53949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00" b="1" i="0">
                <a:solidFill>
                  <a:srgbClr val="F28E01"/>
                </a:solidFill>
                <a:latin typeface="Times New Roman"/>
              </a:rPr>
              <a:t>PAPER 1  ·  SYSTEMATIC REVIEW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1" i="0">
                <a:solidFill>
                  <a:srgbClr val="1E252E"/>
                </a:solidFill>
                <a:latin typeface="Times New Roman"/>
              </a:rPr>
              <a:t>Graph-Aware Neuro-Symbolic Approaches for Legacy Modernization: A Systematic Review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00" b="0" i="0">
                <a:solidFill>
                  <a:srgbClr val="6E7883"/>
                </a:solidFill>
                <a:latin typeface="Times New Roman"/>
              </a:rPr>
              <a:t>Adarsha S P · Sankalp Shankar · Surabhi Singh · Pravith S Upadhyaya · Abhishek Kumar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E252E"/>
                </a:solidFill>
                <a:latin typeface="Times New Roman"/>
              </a:rPr>
              <a:t>Scope: </a:t>
            </a:r>
            <a:r>
              <a:rPr sz="1100" b="0">
                <a:solidFill>
                  <a:srgbClr val="6E7883"/>
                </a:solidFill>
                <a:latin typeface="Times New Roman"/>
              </a:rPr>
              <a:t>IEEE Xplore, ACM DL and arXiv, January 2020 – April 2026; repository-level code translation, refactoring and validation. §VIII.B is the finding this project turns into a measurement.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0" y="1280160"/>
            <a:ext cx="2304288" cy="1700784"/>
          </a:xfrm>
          <a:prstGeom prst="roundRect">
            <a:avLst>
              <a:gd name="adj" fmla="val 3500"/>
            </a:avLst>
          </a:prstGeom>
          <a:solidFill>
            <a:srgbClr val="2B3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577072" y="1463039"/>
            <a:ext cx="197510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00" b="1" i="0">
                <a:solidFill>
                  <a:srgbClr val="9FADBC"/>
                </a:solidFill>
                <a:latin typeface="Times New Roman"/>
              </a:rPr>
              <a:t>STATUS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00" b="1" i="0">
                <a:solidFill>
                  <a:srgbClr val="FFC46B"/>
                </a:solidFill>
                <a:latin typeface="Times New Roman"/>
              </a:rPr>
              <a:t>UNDER REVIEW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50" b="0" i="0">
                <a:solidFill>
                  <a:srgbClr val="FFFFFF"/>
                </a:solidFill>
                <a:latin typeface="Times New Roman"/>
              </a:rPr>
              <a:t>Venue:  [Venue Name]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50" b="0" i="0">
                <a:solidFill>
                  <a:srgbClr val="FFFFFF"/>
                </a:solidFill>
                <a:latin typeface="Times New Roman"/>
              </a:rPr>
              <a:t>Submitted:  [Date]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FFFFFF"/>
                </a:solidFill>
                <a:latin typeface="Times New Roman"/>
              </a:rPr>
              <a:t>Paper ID:  [ID]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0" y="3383280"/>
            <a:ext cx="8229600" cy="1874519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999232" y="3584448"/>
            <a:ext cx="7717536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00" b="1" i="0">
                <a:solidFill>
                  <a:srgbClr val="F28E01"/>
                </a:solidFill>
                <a:latin typeface="Times New Roman"/>
              </a:rPr>
              <a:t>PAPER 2  ·  IN PREPARATION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500" b="1" i="0">
                <a:solidFill>
                  <a:srgbClr val="1E252E"/>
                </a:solidFill>
                <a:latin typeface="Times New Roman"/>
              </a:rPr>
              <a:t>TraceWeave-Core: How Much of a Python Call Graph Does Static Extraction Miss?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E252E"/>
                </a:solidFill>
                <a:latin typeface="Times New Roman"/>
              </a:rPr>
              <a:t>Gated on the Phase 3 GO / NO-GO. </a:t>
            </a:r>
            <a:r>
              <a:rPr sz="1100" b="0">
                <a:solidFill>
                  <a:srgbClr val="6E7883"/>
                </a:solidFill>
                <a:latin typeface="Times New Roman"/>
              </a:rPr>
              <a:t>The headline is the H2a recall figure with its per-stratum and per-edge-type breakdowns, plus the DynBench-Core artifact. The measurement is publishable either way — a low miss rate concentrated at named constructs is a stronger result than a diffuse high one.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5468112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6E7883"/>
                </a:solidFill>
                <a:latin typeface="Times New Roman"/>
              </a:rPr>
              <a:t>No threshold or definition may be tuned after seeing results — the specs were frozen before the extraction code existed.</a:t>
            </a:r>
          </a:p>
        </p:txBody>
      </p:sp>
    </p:spTree>
    <p:extLst>
      <p:ext uri="{BB962C8B-B14F-4D97-AF65-F5344CB8AC3E}">
        <p14:creationId xmlns:p14="http://schemas.microsoft.com/office/powerpoint/2010/main" val="1003227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AI &amp; ML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99013"/>
            <a:ext cx="8229600" cy="838200"/>
          </a:xfrm>
        </p:spPr>
        <p:txBody>
          <a:bodyPr wrap="square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1E252E"/>
                </a:solidFill>
                <a:latin typeface="Times New Roman"/>
              </a:rPr>
              <a:t>5.  Status of Paper — Proof  (2 of 2)</a:t>
            </a:r>
            <a:endParaRPr lang="en-IN" sz="32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A1DB53-C7B5-447D-92BE-95CEA5CB041B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b="1" dirty="0"/>
              <a:t>DEPARTMENT OF ARTIFICIAL INTELLIGENCE AND MACHINE LEARNING</a:t>
            </a:r>
          </a:p>
          <a:p>
            <a:pPr algn="ctr"/>
            <a:r>
              <a:rPr lang="en-US" sz="800" b="1" dirty="0"/>
              <a:t>ACHARYA INSTITUTE OF TECHNOLOGY</a:t>
            </a:r>
            <a:endParaRPr lang="en-IN" sz="800" b="1" dirty="0"/>
          </a:p>
        </p:txBody>
      </p:sp>
      <p:sp>
        <p:nvSpPr>
          <p:cNvPr id="24" name="Rounded Rectangle 23"/>
          <p:cNvSpPr/>
          <p:nvPr/>
        </p:nvSpPr>
        <p:spPr>
          <a:xfrm>
            <a:off x="2743200" y="1078992"/>
            <a:ext cx="4892040" cy="41605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7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2971800" y="1581912"/>
            <a:ext cx="4434840" cy="3401568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944368" y="1261872"/>
            <a:ext cx="44897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28E01"/>
                </a:solidFill>
                <a:latin typeface="Times New Roman"/>
              </a:rPr>
              <a:t>SUBMISSION PROOF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2816352"/>
            <a:ext cx="38862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1" i="0">
                <a:solidFill>
                  <a:srgbClr val="6E7883"/>
                </a:solidFill>
                <a:latin typeface="Times New Roman"/>
              </a:rPr>
              <a:t>[ Paste the submission-confirmation screenshot here ]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E7883"/>
                </a:solidFill>
                <a:latin typeface="Times New Roman"/>
              </a:rPr>
              <a:t>Acknowledgement e-mail or the portal's submitted-papers page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9560" y="1078992"/>
            <a:ext cx="3063240" cy="4160520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129016" y="1280160"/>
            <a:ext cx="2624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28E01"/>
                </a:solidFill>
                <a:latin typeface="Times New Roman"/>
              </a:rPr>
              <a:t>WHAT THE PROOF MUST SHOW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9016" y="1645919"/>
            <a:ext cx="2624328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200" b="1">
                <a:solidFill>
                  <a:srgbClr val="F28E01"/>
                </a:solidFill>
                <a:latin typeface="Times New Roman"/>
              </a:rPr>
              <a:t>☐   </a:t>
            </a:r>
            <a:r>
              <a:rPr sz="1200" b="0">
                <a:solidFill>
                  <a:srgbClr val="1E252E"/>
                </a:solidFill>
                <a:latin typeface="Times New Roman"/>
              </a:rPr>
              <a:t>Paper title exactly as submitted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200" b="1">
                <a:solidFill>
                  <a:srgbClr val="F28E01"/>
                </a:solidFill>
                <a:latin typeface="Times New Roman"/>
              </a:rPr>
              <a:t>☐   </a:t>
            </a:r>
            <a:r>
              <a:rPr sz="1200" b="0">
                <a:solidFill>
                  <a:srgbClr val="1E252E"/>
                </a:solidFill>
                <a:latin typeface="Times New Roman"/>
              </a:rPr>
              <a:t>Full author list in submission order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200" b="1">
                <a:solidFill>
                  <a:srgbClr val="F28E01"/>
                </a:solidFill>
                <a:latin typeface="Times New Roman"/>
              </a:rPr>
              <a:t>☐   </a:t>
            </a:r>
            <a:r>
              <a:rPr sz="1200" b="0">
                <a:solidFill>
                  <a:srgbClr val="1E252E"/>
                </a:solidFill>
                <a:latin typeface="Times New Roman"/>
              </a:rPr>
              <a:t>Venue name and track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200" b="1">
                <a:solidFill>
                  <a:srgbClr val="F28E01"/>
                </a:solidFill>
                <a:latin typeface="Times New Roman"/>
              </a:rPr>
              <a:t>☐   </a:t>
            </a:r>
            <a:r>
              <a:rPr sz="1200" b="0">
                <a:solidFill>
                  <a:srgbClr val="1E252E"/>
                </a:solidFill>
                <a:latin typeface="Times New Roman"/>
              </a:rPr>
              <a:t>Submission or paper ID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200" b="1">
                <a:solidFill>
                  <a:srgbClr val="F28E01"/>
                </a:solidFill>
                <a:latin typeface="Times New Roman"/>
              </a:rPr>
              <a:t>☐   </a:t>
            </a:r>
            <a:r>
              <a:rPr sz="1200" b="0">
                <a:solidFill>
                  <a:srgbClr val="1E252E"/>
                </a:solidFill>
                <a:latin typeface="Times New Roman"/>
              </a:rPr>
              <a:t>Date-stamped acknowledgement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200" b="1">
                <a:solidFill>
                  <a:srgbClr val="F28E01"/>
                </a:solidFill>
                <a:latin typeface="Times New Roman"/>
              </a:rPr>
              <a:t>☐   </a:t>
            </a:r>
            <a:r>
              <a:rPr sz="1200" b="0">
                <a:solidFill>
                  <a:srgbClr val="1E252E"/>
                </a:solidFill>
                <a:latin typeface="Times New Roman"/>
              </a:rPr>
              <a:t>Current state shown by the portal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29016" y="4206240"/>
            <a:ext cx="2624328" cy="10972"/>
          </a:xfrm>
          <a:prstGeom prst="rect">
            <a:avLst/>
          </a:prstGeom>
          <a:solidFill>
            <a:srgbClr val="D7DD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129016" y="4352544"/>
            <a:ext cx="26243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6E7883"/>
                </a:solidFill>
                <a:latin typeface="Times New Roman"/>
              </a:rPr>
              <a:t>Redact reviewer identities and any e-mail address that is not a team member's before the slide is shown.</a:t>
            </a:r>
          </a:p>
        </p:txBody>
      </p:sp>
    </p:spTree>
    <p:extLst>
      <p:ext uri="{BB962C8B-B14F-4D97-AF65-F5344CB8AC3E}">
        <p14:creationId xmlns:p14="http://schemas.microsoft.com/office/powerpoint/2010/main" val="1003227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AI &amp; ML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99013"/>
            <a:ext cx="8229600" cy="838200"/>
          </a:xfrm>
        </p:spPr>
        <p:txBody>
          <a:bodyPr wrap="square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1E252E"/>
                </a:solidFill>
                <a:latin typeface="Times New Roman"/>
              </a:rPr>
              <a:t>6.  Proposed Outcome vs Actual Outcome  (1 of 2)</a:t>
            </a:r>
            <a:endParaRPr lang="en-IN" sz="32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A1DB53-C7B5-447D-92BE-95CEA5CB041B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b="1" dirty="0"/>
              <a:t>DEPARTMENT OF ARTIFICIAL INTELLIGENCE AND MACHINE LEARNING</a:t>
            </a:r>
          </a:p>
          <a:p>
            <a:pPr algn="ctr"/>
            <a:r>
              <a:rPr lang="en-US" sz="800" b="1" dirty="0"/>
              <a:t>ACHARYA INSTITUTE OF TECHNOLOGY</a:t>
            </a:r>
            <a:endParaRPr lang="en-IN" sz="800" b="1" dirty="0"/>
          </a:p>
        </p:txBody>
      </p:sp>
      <p:sp>
        <p:nvSpPr>
          <p:cNvPr id="24" name="Rounded Rectangle 23"/>
          <p:cNvSpPr/>
          <p:nvPr/>
        </p:nvSpPr>
        <p:spPr>
          <a:xfrm>
            <a:off x="2743200" y="1078992"/>
            <a:ext cx="8229600" cy="384048"/>
          </a:xfrm>
          <a:prstGeom prst="roundRect">
            <a:avLst>
              <a:gd name="adj" fmla="val 3500"/>
            </a:avLst>
          </a:prstGeom>
          <a:solidFill>
            <a:srgbClr val="2B344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944368" y="1170432"/>
            <a:ext cx="27249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PHASE 0 COMMITMENT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42431" y="1170432"/>
            <a:ext cx="18836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PROPOSED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9248" y="1170432"/>
            <a:ext cx="23957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ACTUAL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8128" y="117043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" name="Rectangle 28"/>
          <p:cNvSpPr/>
          <p:nvPr/>
        </p:nvSpPr>
        <p:spPr>
          <a:xfrm>
            <a:off x="2743200" y="1463039"/>
            <a:ext cx="8229600" cy="498348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2944368" y="1581912"/>
            <a:ext cx="27249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E252E"/>
                </a:solidFill>
                <a:latin typeface="Times New Roman"/>
              </a:rPr>
              <a:t>Candidates discovered &amp; scored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42431" y="1581912"/>
            <a:ext cx="18836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E7883"/>
                </a:solidFill>
                <a:latin typeface="Times New Roman"/>
              </a:rPr>
              <a:t>~450  (floor 300)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9248" y="1581912"/>
            <a:ext cx="23957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E252E"/>
                </a:solidFill>
                <a:latin typeface="Times New Roman"/>
              </a:rPr>
              <a:t>558 queued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68128" y="1563624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FFFFF"/>
                </a:solidFill>
                <a:latin typeface="Times New Roman"/>
              </a:rPr>
              <a:t>MET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44368" y="2080260"/>
            <a:ext cx="27249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E252E"/>
                </a:solidFill>
                <a:latin typeface="Times New Roman"/>
              </a:rPr>
              <a:t>Stratum balance — HIGH not thin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42431" y="2080260"/>
            <a:ext cx="18836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E7883"/>
                </a:solidFill>
                <a:latin typeface="Times New Roman"/>
              </a:rPr>
              <a:t>risk flagged in plan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99248" y="2080260"/>
            <a:ext cx="23957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E252E"/>
                </a:solidFill>
                <a:latin typeface="Times New Roman"/>
              </a:rPr>
              <a:t>HIGH 135 / MED 177 / LOW 246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68128" y="2061972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FFFFF"/>
                </a:solidFill>
                <a:latin typeface="Times New Roman"/>
              </a:rPr>
              <a:t>MET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0" y="2459736"/>
            <a:ext cx="8229600" cy="498348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2944368" y="2578608"/>
            <a:ext cx="27249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E252E"/>
                </a:solidFill>
                <a:latin typeface="Times New Roman"/>
              </a:rPr>
              <a:t>Pyright pinned before Phase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42431" y="2578608"/>
            <a:ext cx="18836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E7883"/>
                </a:solidFill>
                <a:latin typeface="Times New Roman"/>
              </a:rPr>
              <a:t>version query pending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99248" y="2578608"/>
            <a:ext cx="23957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E252E"/>
                </a:solidFill>
                <a:latin typeface="Times New Roman"/>
              </a:rPr>
              <a:t>1.1.411, published 2026-06-25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68128" y="256032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FFFFF"/>
                </a:solidFill>
                <a:latin typeface="Times New Roman"/>
              </a:rPr>
              <a:t>MET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44368" y="3076956"/>
            <a:ext cx="27249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E252E"/>
                </a:solidFill>
                <a:latin typeface="Times New Roman"/>
              </a:rPr>
              <a:t>PyCG parse-failure rate measured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42431" y="3076956"/>
            <a:ext cx="18836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E7883"/>
                </a:solidFill>
                <a:latin typeface="Times New Roman"/>
              </a:rPr>
              <a:t>"expected non-trivial"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99248" y="3076956"/>
            <a:ext cx="23957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E252E"/>
                </a:solidFill>
                <a:latin typeface="Times New Roman"/>
              </a:rPr>
              <a:t>1.6% @ 3.10  ·  100% @ 3.12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168128" y="3058668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FFFFF"/>
                </a:solidFill>
                <a:latin typeface="Times New Roman"/>
              </a:rPr>
              <a:t>MET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3456432"/>
            <a:ext cx="8229600" cy="498348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2944368" y="3575304"/>
            <a:ext cx="27249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E252E"/>
                </a:solidFill>
                <a:latin typeface="Times New Roman"/>
              </a:rPr>
              <a:t>triage/runner.py — parallel queue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42431" y="3575304"/>
            <a:ext cx="18836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E7883"/>
                </a:solidFill>
                <a:latin typeface="Times New Roman"/>
              </a:rPr>
              <a:t>recipe ladder + checkpoints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99248" y="3575304"/>
            <a:ext cx="23957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E252E"/>
                </a:solidFill>
                <a:latin typeface="Times New Roman"/>
              </a:rPr>
              <a:t>delivered, re-verifies every outcome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168128" y="3557016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FFFFF"/>
                </a:solidFill>
                <a:latin typeface="Times New Roman"/>
              </a:rPr>
              <a:t>MET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44368" y="4073652"/>
            <a:ext cx="27249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E252E"/>
                </a:solidFill>
                <a:latin typeface="Times New Roman"/>
              </a:rPr>
              <a:t>Density scorer calibrated &amp; frozen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42431" y="4073652"/>
            <a:ext cx="18836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E7883"/>
                </a:solidFill>
                <a:latin typeface="Times New Roman"/>
              </a:rPr>
              <a:t>calibrate once, then freeze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99248" y="4073652"/>
            <a:ext cx="23957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E252E"/>
                </a:solidFill>
                <a:latin typeface="Times New Roman"/>
              </a:rPr>
              <a:t>v1.0 — 6 HIGH / 4 MED / 3 LOW / 1 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168128" y="4055364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FFFFF"/>
                </a:solidFill>
                <a:latin typeface="Times New Roman"/>
              </a:rPr>
              <a:t>MET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0" y="4453128"/>
            <a:ext cx="8229600" cy="498348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2944368" y="4572000"/>
            <a:ext cx="27249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E252E"/>
                </a:solidFill>
                <a:latin typeface="Times New Roman"/>
              </a:rPr>
              <a:t>Corpus with ≥3 workloads per repo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42431" y="4572000"/>
            <a:ext cx="18836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E7883"/>
                </a:solidFill>
                <a:latin typeface="Times New Roman"/>
              </a:rPr>
              <a:t>~60 repos  (floor 40)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99248" y="4572000"/>
            <a:ext cx="23957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E252E"/>
                </a:solidFill>
                <a:latin typeface="Times New Roman"/>
              </a:rPr>
              <a:t>Phase 1 work — not started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168128" y="4553712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F28E0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FFFFF"/>
                </a:solidFill>
                <a:latin typeface="Times New Roman"/>
              </a:rPr>
              <a:t>NEXT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944368" y="5070348"/>
            <a:ext cx="27249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E252E"/>
                </a:solidFill>
                <a:latin typeface="Times New Roman"/>
              </a:rPr>
              <a:t>H2a recall figure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42431" y="5070348"/>
            <a:ext cx="18836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E7883"/>
                </a:solidFill>
                <a:latin typeface="Times New Roman"/>
              </a:rPr>
              <a:t>Phase 3 GO / NO-GO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99248" y="5070348"/>
            <a:ext cx="23957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E252E"/>
                </a:solidFill>
                <a:latin typeface="Times New Roman"/>
              </a:rPr>
              <a:t>not yet measured, by design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168128" y="505206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F28E0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FFFFF"/>
                </a:solidFill>
                <a:latin typeface="Times New Roman"/>
              </a:rPr>
              <a:t>NEXT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43200" y="559612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E252E"/>
                </a:solidFill>
                <a:latin typeface="Times New Roman"/>
              </a:rPr>
              <a:t>Phase 0 closed on schedule and over target on every item it owned. </a:t>
            </a:r>
            <a:r>
              <a:rPr sz="1100" b="0">
                <a:solidFill>
                  <a:srgbClr val="6E7883"/>
                </a:solidFill>
                <a:latin typeface="Times New Roman"/>
              </a:rPr>
              <a:t>The two NEXT rows are Phase 1 and Phase 3 deliverables, not slippage.</a:t>
            </a:r>
          </a:p>
        </p:txBody>
      </p:sp>
    </p:spTree>
    <p:extLst>
      <p:ext uri="{BB962C8B-B14F-4D97-AF65-F5344CB8AC3E}">
        <p14:creationId xmlns:p14="http://schemas.microsoft.com/office/powerpoint/2010/main" val="1003227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AI &amp; ML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99013"/>
            <a:ext cx="8229600" cy="838200"/>
          </a:xfrm>
        </p:spPr>
        <p:txBody>
          <a:bodyPr wrap="square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1E252E"/>
                </a:solidFill>
                <a:latin typeface="Times New Roman"/>
              </a:rPr>
              <a:t>6.  What the Plan Did Not Predict  (2 of 2)</a:t>
            </a:r>
            <a:endParaRPr lang="en-IN" sz="32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A1DB53-C7B5-447D-92BE-95CEA5CB041B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b="1" dirty="0"/>
              <a:t>DEPARTMENT OF ARTIFICIAL INTELLIGENCE AND MACHINE LEARNING</a:t>
            </a:r>
          </a:p>
          <a:p>
            <a:pPr algn="ctr"/>
            <a:r>
              <a:rPr lang="en-US" sz="800" b="1" dirty="0"/>
              <a:t>ACHARYA INSTITUTE OF TECHNOLOGY</a:t>
            </a:r>
            <a:endParaRPr lang="en-IN" sz="800" b="1" dirty="0"/>
          </a:p>
        </p:txBody>
      </p:sp>
      <p:sp>
        <p:nvSpPr>
          <p:cNvPr id="24" name="Rounded Rectangle 23"/>
          <p:cNvSpPr/>
          <p:nvPr/>
        </p:nvSpPr>
        <p:spPr>
          <a:xfrm>
            <a:off x="2743200" y="1078992"/>
            <a:ext cx="4005072" cy="171907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7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2926080" y="1261872"/>
            <a:ext cx="310896" cy="310896"/>
          </a:xfrm>
          <a:prstGeom prst="ellipse">
            <a:avLst/>
          </a:prstGeom>
          <a:solidFill>
            <a:srgbClr val="F28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28416" y="1252728"/>
            <a:ext cx="32186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E252E"/>
                </a:solidFill>
                <a:latin typeface="Times New Roman"/>
              </a:rPr>
              <a:t>PyCG does not run on Python 3.12 at 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1773936"/>
            <a:ext cx="363931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000" b="0" i="0">
                <a:solidFill>
                  <a:srgbClr val="6E7883"/>
                </a:solidFill>
                <a:latin typeface="Times New Roman"/>
              </a:rPr>
              <a:t>1311 of 1311 reference files fail with ImportManagerError — not a SyntaxError, so §2 anticipated the wrong risk.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F28E01"/>
                </a:solidFill>
                <a:latin typeface="Times New Roman"/>
              </a:rPr>
              <a:t>→  </a:t>
            </a:r>
            <a:r>
              <a:rPr sz="1000" b="0">
                <a:solidFill>
                  <a:srgbClr val="1E252E"/>
                </a:solidFill>
                <a:latin typeface="Times New Roman"/>
              </a:rPr>
              <a:t>Static baselines now run on ≤3.11 while repos are triaged on 3.12. Recorded as deliberate, not discovered from a stack trace.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67728" y="1078992"/>
            <a:ext cx="4005072" cy="171907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7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7150608" y="1261872"/>
            <a:ext cx="310896" cy="310896"/>
          </a:xfrm>
          <a:prstGeom prst="ellipse">
            <a:avLst/>
          </a:prstGeom>
          <a:solidFill>
            <a:srgbClr val="F28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52944" y="1252728"/>
            <a:ext cx="32186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E252E"/>
                </a:solidFill>
                <a:latin typeface="Times New Roman"/>
              </a:rPr>
              <a:t>The published 0.0.8 sdist is unimportable on Linux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50608" y="1773936"/>
            <a:ext cx="363931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000" b="0" i="0">
                <a:solidFill>
                  <a:srgbClr val="6E7883"/>
                </a:solidFill>
                <a:latin typeface="Times New Roman"/>
              </a:rPr>
              <a:t>It installs PyCG/ but every internal import reads pycg. It only ever worked on case-insensitive macOS.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F28E01"/>
                </a:solidFill>
                <a:latin typeface="Times New Roman"/>
              </a:rPr>
              <a:t>→  </a:t>
            </a:r>
            <a:r>
              <a:rPr sz="1000" b="0">
                <a:solidFill>
                  <a:srgbClr val="1E252E"/>
                </a:solidFill>
                <a:latin typeface="Times New Roman"/>
              </a:rPr>
              <a:t>Pin held at 0.0.8; every image carries the symlink shim, and the deviation is written into MANIFEST §2.1.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0" y="2935224"/>
            <a:ext cx="4005072" cy="171907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7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2926080" y="3118104"/>
            <a:ext cx="310896" cy="310896"/>
          </a:xfrm>
          <a:prstGeom prst="ellipse">
            <a:avLst/>
          </a:prstGeom>
          <a:solidFill>
            <a:srgbClr val="F28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28416" y="3108960"/>
            <a:ext cx="32186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E252E"/>
                </a:solidFill>
                <a:latin typeface="Times New Roman"/>
              </a:rPr>
              <a:t>This Mac cannot build the corpus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3630168"/>
            <a:ext cx="363931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000" b="0" i="0">
                <a:solidFill>
                  <a:srgbClr val="6E7883"/>
                </a:solidFill>
                <a:latin typeface="Times New Roman"/>
              </a:rPr>
              <a:t>8 GB RAM OOM-kills test suites at --jobs 3; the corpus must be built on one architecture.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F28E01"/>
                </a:solidFill>
                <a:latin typeface="Times New Roman"/>
              </a:rPr>
              <a:t>→  </a:t>
            </a:r>
            <a:r>
              <a:rPr sz="1000" b="0">
                <a:solidFill>
                  <a:srgbClr val="1E252E"/>
                </a:solidFill>
                <a:latin typeface="Times New Roman"/>
              </a:rPr>
              <a:t>Mac is the manager host; the Linux x86_64 box executes. The corpus is amd64 and a Mac-triaged repo is development output.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67728" y="2935224"/>
            <a:ext cx="4005072" cy="171907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7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7150608" y="3118104"/>
            <a:ext cx="310896" cy="310896"/>
          </a:xfrm>
          <a:prstGeom prst="ellipse">
            <a:avLst/>
          </a:prstGeom>
          <a:solidFill>
            <a:srgbClr val="F28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52944" y="3108960"/>
            <a:ext cx="32186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E252E"/>
                </a:solidFill>
                <a:latin typeface="Times New Roman"/>
              </a:rPr>
              <a:t>A patch introduced a silent 16.8× overcount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50608" y="3630168"/>
            <a:ext cx="363931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000" b="0" i="0">
                <a:solidFill>
                  <a:srgbClr val="6E7883"/>
                </a:solidFill>
                <a:latin typeface="Times New Roman"/>
              </a:rPr>
              <a:t>n_collected matched pytest's pre-deselection total: click read 32965 instead of 1965.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F28E01"/>
                </a:solidFill>
                <a:latin typeface="Times New Roman"/>
              </a:rPr>
              <a:t>→  </a:t>
            </a:r>
            <a:r>
              <a:rPr sz="1000" b="0">
                <a:solidFill>
                  <a:srgbClr val="1E252E"/>
                </a:solidFill>
                <a:latin typeface="Times New Roman"/>
              </a:rPr>
              <a:t>Caught during verification, fixed in both triage.sh and runner.py; the total is kept separately as n_collected_total.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0" y="4919472"/>
            <a:ext cx="8229600" cy="1170432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2962656" y="5084064"/>
            <a:ext cx="779068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50" b="1" i="0">
                <a:solidFill>
                  <a:srgbClr val="F28E01"/>
                </a:solidFill>
                <a:latin typeface="Times New Roman"/>
              </a:rPr>
              <a:t>STILL OPEN — CARRIED INTO PHASE 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>
                <a:solidFill>
                  <a:srgbClr val="F28E01"/>
                </a:solidFill>
                <a:latin typeface="Times New Roman"/>
              </a:rPr>
              <a:t>•  </a:t>
            </a:r>
            <a:r>
              <a:rPr sz="1000" b="1">
                <a:solidFill>
                  <a:srgbClr val="1E252E"/>
                </a:solidFill>
                <a:latin typeface="Times New Roman"/>
              </a:rPr>
              <a:t>Amend ins1 §6. </a:t>
            </a:r>
            <a:r>
              <a:rPr sz="1000" b="0">
                <a:solidFill>
                  <a:srgbClr val="6E7883"/>
                </a:solidFill>
                <a:latin typeface="Times New Roman"/>
              </a:rPr>
              <a:t>triage.sh v1.2 emits OOM, TIMEOUT, KILLED and collect_partial, which the operator sheet forbids — an operator cannot record what the script prints. validate_sheet.py --v12 is the interim machine check.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>
                <a:solidFill>
                  <a:srgbClr val="F28E01"/>
                </a:solidFill>
                <a:latin typeface="Times New Roman"/>
              </a:rPr>
              <a:t>•  </a:t>
            </a:r>
            <a:r>
              <a:rPr sz="1000" b="1">
                <a:solidFill>
                  <a:srgbClr val="1E252E"/>
                </a:solidFill>
                <a:latin typeface="Times New Roman"/>
              </a:rPr>
              <a:t>Re-run the 10% human-vs-classifier audit under v1.2, </a:t>
            </a:r>
            <a:r>
              <a:rPr sz="1000" b="0">
                <a:solidFill>
                  <a:srgbClr val="6E7883"/>
                </a:solidFill>
                <a:latin typeface="Times New Roman"/>
              </a:rPr>
              <a:t>and do not pool the 14 v1.1 spot-check rows with the 558.</a:t>
            </a:r>
          </a:p>
        </p:txBody>
      </p:sp>
    </p:spTree>
    <p:extLst>
      <p:ext uri="{BB962C8B-B14F-4D97-AF65-F5344CB8AC3E}">
        <p14:creationId xmlns:p14="http://schemas.microsoft.com/office/powerpoint/2010/main" val="1003227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AI &amp; ML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99013"/>
            <a:ext cx="8229600" cy="838200"/>
          </a:xfrm>
        </p:spPr>
        <p:txBody>
          <a:bodyPr wrap="square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1E252E"/>
                </a:solidFill>
                <a:latin typeface="Times New Roman"/>
              </a:rPr>
              <a:t>7.  Conclusion, Deliverables &amp; Impact</a:t>
            </a:r>
            <a:endParaRPr lang="en-IN" sz="32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A1DB53-C7B5-447D-92BE-95CEA5CB041B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b="1" dirty="0"/>
              <a:t>DEPARTMENT OF ARTIFICIAL INTELLIGENCE AND MACHINE LEARNING</a:t>
            </a:r>
          </a:p>
          <a:p>
            <a:pPr algn="ctr"/>
            <a:r>
              <a:rPr lang="en-US" sz="800" b="1" dirty="0"/>
              <a:t>ACHARYA INSTITUTE OF TECHNOLOGY</a:t>
            </a:r>
            <a:endParaRPr lang="en-IN" sz="800" b="1" dirty="0"/>
          </a:p>
        </p:txBody>
      </p:sp>
      <p:sp>
        <p:nvSpPr>
          <p:cNvPr id="24" name="Rounded Rectangle 23"/>
          <p:cNvSpPr/>
          <p:nvPr/>
        </p:nvSpPr>
        <p:spPr>
          <a:xfrm>
            <a:off x="2743200" y="1078992"/>
            <a:ext cx="2596896" cy="38404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7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944368" y="1298448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28E01"/>
                </a:solidFill>
                <a:latin typeface="Times New Roman"/>
              </a:rPr>
              <a:t>Key findings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44368" y="1810512"/>
            <a:ext cx="2194560" cy="297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100" b="1">
                <a:solidFill>
                  <a:srgbClr val="F28E01"/>
                </a:solidFill>
                <a:latin typeface="Times New Roman"/>
              </a:rPr>
              <a:t>•  </a:t>
            </a:r>
            <a:r>
              <a:rPr sz="1100" b="0">
                <a:solidFill>
                  <a:srgbClr val="1E252E"/>
                </a:solidFill>
                <a:latin typeface="Times New Roman"/>
              </a:rPr>
              <a:t>Phase 0 closed complete and over target: 558 candidates against a plan of ~450.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100" b="1">
                <a:solidFill>
                  <a:srgbClr val="F28E01"/>
                </a:solidFill>
                <a:latin typeface="Times New Roman"/>
              </a:rPr>
              <a:t>•  </a:t>
            </a:r>
            <a:r>
              <a:rPr sz="1100" b="0">
                <a:solidFill>
                  <a:srgbClr val="1E252E"/>
                </a:solidFill>
                <a:latin typeface="Times New Roman"/>
              </a:rPr>
              <a:t>The field's standard static baseline fails on 100% of files under the interpreter this project defaults to.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100" b="1">
                <a:solidFill>
                  <a:srgbClr val="F28E01"/>
                </a:solidFill>
                <a:latin typeface="Times New Roman"/>
              </a:rPr>
              <a:t>•  </a:t>
            </a:r>
            <a:r>
              <a:rPr sz="1100" b="0">
                <a:solidFill>
                  <a:srgbClr val="1E252E"/>
                </a:solidFill>
                <a:latin typeface="Times New Roman"/>
              </a:rPr>
              <a:t>Dynamic-feature density is measurable and discriminating once four false-positive classes are removed.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100" b="1">
                <a:solidFill>
                  <a:srgbClr val="F28E01"/>
                </a:solidFill>
                <a:latin typeface="Times New Roman"/>
              </a:rPr>
              <a:t>•  </a:t>
            </a:r>
            <a:r>
              <a:rPr sz="1100" b="0">
                <a:solidFill>
                  <a:srgbClr val="1E252E"/>
                </a:solidFill>
                <a:latin typeface="Times New Roman"/>
              </a:rPr>
              <a:t>Every headline defect so far was found by running the pipeline, not by reviewing it.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59552" y="1078992"/>
            <a:ext cx="2596896" cy="38404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7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760720" y="1298448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0F6C8C"/>
                </a:solidFill>
                <a:latin typeface="Times New Roman"/>
              </a:rPr>
              <a:t>Deliverables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1810512"/>
            <a:ext cx="2194560" cy="297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100" b="1">
                <a:solidFill>
                  <a:srgbClr val="0F6C8C"/>
                </a:solidFill>
                <a:latin typeface="Times New Roman"/>
              </a:rPr>
              <a:t>•  </a:t>
            </a:r>
            <a:r>
              <a:rPr sz="1100" b="0">
                <a:solidFill>
                  <a:srgbClr val="1E252E"/>
                </a:solidFill>
                <a:latin typeface="Times New Roman"/>
              </a:rPr>
              <a:t>DynBench-Core — pinned repos, replayable workloads, reference edge sets, harness.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100" b="1">
                <a:solidFill>
                  <a:srgbClr val="0F6C8C"/>
                </a:solidFill>
                <a:latin typeface="Times New Roman"/>
              </a:rPr>
              <a:t>•  </a:t>
            </a:r>
            <a:r>
              <a:rPr sz="1100" b="0">
                <a:solidFill>
                  <a:srgbClr val="1E252E"/>
                </a:solidFill>
                <a:latin typeface="Times New Roman"/>
              </a:rPr>
              <a:t>A pre-registered H2a metric specification, frozen before any extraction code.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100" b="1">
                <a:solidFill>
                  <a:srgbClr val="0F6C8C"/>
                </a:solidFill>
                <a:latin typeface="Times New Roman"/>
              </a:rPr>
              <a:t>•  </a:t>
            </a:r>
            <a:r>
              <a:rPr sz="1100" b="0">
                <a:solidFill>
                  <a:srgbClr val="1E252E"/>
                </a:solidFill>
                <a:latin typeface="Times New Roman"/>
              </a:rPr>
              <a:t>Automated triage: triage.sh v1.2 + runner.py with explicit corpus admission.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100" b="1">
                <a:solidFill>
                  <a:srgbClr val="0F6C8C"/>
                </a:solidFill>
                <a:latin typeface="Times New Roman"/>
              </a:rPr>
              <a:t>•  </a:t>
            </a:r>
            <a:r>
              <a:rPr sz="1100" b="0">
                <a:solidFill>
                  <a:srgbClr val="1E252E"/>
                </a:solidFill>
                <a:latin typeface="Times New Roman"/>
              </a:rPr>
              <a:t>A tracing-feasibility survey, including the repos that could not be traced.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75904" y="1078992"/>
            <a:ext cx="2596896" cy="38404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7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577072" y="1298448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2E7D5B"/>
                </a:solidFill>
                <a:latin typeface="Times New Roman"/>
              </a:rPr>
              <a:t>Impact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77072" y="1810512"/>
            <a:ext cx="2194560" cy="297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100" b="1">
                <a:solidFill>
                  <a:srgbClr val="2E7D5B"/>
                </a:solidFill>
                <a:latin typeface="Times New Roman"/>
              </a:rPr>
              <a:t>•  </a:t>
            </a:r>
            <a:r>
              <a:rPr sz="1100" b="0">
                <a:solidFill>
                  <a:srgbClr val="1E252E"/>
                </a:solidFill>
                <a:latin typeface="Times New Roman"/>
              </a:rPr>
              <a:t>Tells graph-conditioned code agents how lossy their retrieval substrate really is.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100" b="1">
                <a:solidFill>
                  <a:srgbClr val="2E7D5B"/>
                </a:solidFill>
                <a:latin typeface="Times New Roman"/>
              </a:rPr>
              <a:t>•  </a:t>
            </a:r>
            <a:r>
              <a:rPr sz="1100" b="0">
                <a:solidFill>
                  <a:srgbClr val="1E252E"/>
                </a:solidFill>
                <a:latin typeface="Times New Roman"/>
              </a:rPr>
              <a:t>Names the construct classes to fix, rather than reporting one diffuse percentage.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100" b="1">
                <a:solidFill>
                  <a:srgbClr val="2E7D5B"/>
                </a:solidFill>
                <a:latin typeface="Times New Roman"/>
              </a:rPr>
              <a:t>•  </a:t>
            </a:r>
            <a:r>
              <a:rPr sz="1100" b="0">
                <a:solidFill>
                  <a:srgbClr val="1E252E"/>
                </a:solidFill>
                <a:latin typeface="Times New Roman"/>
              </a:rPr>
              <a:t>Benchmarks outlive methods — the artifact stays useful after the number is quoted.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100" b="1">
                <a:solidFill>
                  <a:srgbClr val="2E7D5B"/>
                </a:solidFill>
                <a:latin typeface="Times New Roman"/>
              </a:rPr>
              <a:t>•  </a:t>
            </a:r>
            <a:r>
              <a:rPr sz="1100" b="0">
                <a:solidFill>
                  <a:srgbClr val="1E252E"/>
                </a:solidFill>
                <a:latin typeface="Times New Roman"/>
              </a:rPr>
              <a:t>A negative result is still the paper: the conditional claim is the strong one.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0" y="5120640"/>
            <a:ext cx="8229600" cy="786384"/>
          </a:xfrm>
          <a:prstGeom prst="roundRect">
            <a:avLst>
              <a:gd name="adj" fmla="val 3500"/>
            </a:avLst>
          </a:prstGeom>
          <a:solidFill>
            <a:srgbClr val="2B3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2999232" y="5285231"/>
            <a:ext cx="77175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FFFFFF"/>
                </a:solidFill>
                <a:latin typeface="Times New Roman"/>
              </a:rPr>
              <a:t>Every pin, digest and frozen threshold exists so the published number is a measurement — </a:t>
            </a:r>
            <a:r>
              <a:rPr sz="1250" b="1">
                <a:solidFill>
                  <a:srgbClr val="FFC46B"/>
                </a:solidFill>
                <a:latin typeface="Times New Roman"/>
              </a:rPr>
              <a:t>not the result of searching until something looked good.</a:t>
            </a:r>
          </a:p>
        </p:txBody>
      </p:sp>
    </p:spTree>
    <p:extLst>
      <p:ext uri="{BB962C8B-B14F-4D97-AF65-F5344CB8AC3E}">
        <p14:creationId xmlns:p14="http://schemas.microsoft.com/office/powerpoint/2010/main" val="1003227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AI &amp; ML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99013"/>
            <a:ext cx="8229600" cy="838200"/>
          </a:xfrm>
        </p:spPr>
        <p:txBody>
          <a:bodyPr wrap="square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1E252E"/>
                </a:solidFill>
                <a:latin typeface="Times New Roman"/>
              </a:rPr>
              <a:t>8.  Individual Responsibilities</a:t>
            </a:r>
            <a:endParaRPr lang="en-IN" sz="32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A1DB53-C7B5-447D-92BE-95CEA5CB041B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b="1" dirty="0"/>
              <a:t>DEPARTMENT OF ARTIFICIAL INTELLIGENCE AND MACHINE LEARNING</a:t>
            </a:r>
          </a:p>
          <a:p>
            <a:pPr algn="ctr"/>
            <a:r>
              <a:rPr lang="en-US" sz="800" b="1" dirty="0"/>
              <a:t>ACHARYA INSTITUTE OF TECHNOLOGY</a:t>
            </a:r>
            <a:endParaRPr lang="en-IN" sz="800" b="1" dirty="0"/>
          </a:p>
        </p:txBody>
      </p:sp>
      <p:sp>
        <p:nvSpPr>
          <p:cNvPr id="24" name="Rounded Rectangle 23"/>
          <p:cNvSpPr/>
          <p:nvPr/>
        </p:nvSpPr>
        <p:spPr>
          <a:xfrm>
            <a:off x="2743200" y="1078992"/>
            <a:ext cx="8229600" cy="402336"/>
          </a:xfrm>
          <a:prstGeom prst="roundRect">
            <a:avLst>
              <a:gd name="adj" fmla="val 3500"/>
            </a:avLst>
          </a:prstGeom>
          <a:solidFill>
            <a:srgbClr val="2B344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962656" y="1179576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NAME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11795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USN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1179576"/>
            <a:ext cx="23591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WORKSTREAM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1179576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OWNS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1481328"/>
            <a:ext cx="8229600" cy="841248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2962656" y="1664207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E252E"/>
                </a:solidFill>
                <a:latin typeface="Times New Roman"/>
              </a:rPr>
              <a:t>[Member 1 Name]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83480" y="1673351"/>
            <a:ext cx="1207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E7883"/>
                </a:solidFill>
                <a:latin typeface="Times New Roman"/>
              </a:rPr>
              <a:t>[1AY__AI___]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1664207"/>
            <a:ext cx="2359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F28E01"/>
                </a:solidFill>
                <a:latin typeface="Times New Roman"/>
              </a:rPr>
              <a:t>Discovery &amp; stratification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1627631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6E7883"/>
                </a:solidFill>
                <a:latin typeface="Times New Roman"/>
              </a:rPr>
              <a:t>discover_candidates.py · density_score.py · scorer calibration and the frozen thresholds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62656" y="2505456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E252E"/>
                </a:solidFill>
                <a:latin typeface="Times New Roman"/>
              </a:rPr>
              <a:t>[Member 2 Name]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83480" y="2514600"/>
            <a:ext cx="1207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E7883"/>
                </a:solidFill>
                <a:latin typeface="Times New Roman"/>
              </a:rPr>
              <a:t>[1AY__AI___]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2505456"/>
            <a:ext cx="2359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F28E01"/>
                </a:solidFill>
                <a:latin typeface="Times New Roman"/>
              </a:rPr>
              <a:t>Triage automation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2468880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6E7883"/>
                </a:solidFill>
                <a:latin typeface="Times New Roman"/>
              </a:rPr>
              <a:t>triage.sh v1.2 · runner.py · lockfile pinning, corpus admission and the 10% audit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0" y="3163824"/>
            <a:ext cx="8229600" cy="841248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2962656" y="334670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E252E"/>
                </a:solidFill>
                <a:latin typeface="Times New Roman"/>
              </a:rPr>
              <a:t>[Member 3 Name]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83480" y="3355848"/>
            <a:ext cx="1207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E7883"/>
                </a:solidFill>
                <a:latin typeface="Times New Roman"/>
              </a:rPr>
              <a:t>[1AY__AI___]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3346704"/>
            <a:ext cx="2359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F28E01"/>
                </a:solidFill>
                <a:latin typeface="Times New Roman"/>
              </a:rPr>
              <a:t>Static baselines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2520" y="3310128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6E7883"/>
                </a:solidFill>
                <a:latin typeface="Times New Roman"/>
              </a:rPr>
              <a:t>PyCG 0.0.8 + Pyright 1.1.411 in pinned images · parse-rate measurement · feasibility survey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62656" y="418795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E252E"/>
                </a:solidFill>
                <a:latin typeface="Times New Roman"/>
              </a:rPr>
              <a:t>[Member 4 Name]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83480" y="4197096"/>
            <a:ext cx="1207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E7883"/>
                </a:solidFill>
                <a:latin typeface="Times New Roman"/>
              </a:rPr>
              <a:t>[1AY__AI___]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4187952"/>
            <a:ext cx="2359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F28E01"/>
                </a:solidFill>
                <a:latin typeface="Times New Roman"/>
              </a:rPr>
              <a:t>Tracing, demo &amp; specification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32520" y="4151376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6E7883"/>
                </a:solidFill>
                <a:latin typeface="Times New Roman"/>
              </a:rPr>
              <a:t>sys.monitoring tracer · live demo and web explainer · metric_spec_h2a.md and MANIFEST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43200" y="5047488"/>
            <a:ext cx="8229600" cy="731520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2962656" y="5193792"/>
            <a:ext cx="77906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E252E"/>
                </a:solidFill>
                <a:latin typeface="Times New Roman"/>
              </a:rPr>
              <a:t>Guide — [Guide Name], [Designation].  </a:t>
            </a:r>
            <a:r>
              <a:rPr sz="1100" b="0">
                <a:solidFill>
                  <a:srgbClr val="6E7883"/>
                </a:solidFill>
                <a:latin typeface="Times New Roman"/>
              </a:rPr>
              <a:t>Reviews every freeze and version bump, approves the Phase 3 GO / NO-GO, and supervises submission.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5907023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6E7883"/>
                </a:solidFill>
                <a:latin typeface="Times New Roman"/>
              </a:rPr>
              <a:t>Shared across all four: weekly integration, the 10% human-vs-classifier audit, and rehearsal of the live demo on the presentation machine.</a:t>
            </a:r>
          </a:p>
        </p:txBody>
      </p:sp>
    </p:spTree>
    <p:extLst>
      <p:ext uri="{BB962C8B-B14F-4D97-AF65-F5344CB8AC3E}">
        <p14:creationId xmlns:p14="http://schemas.microsoft.com/office/powerpoint/2010/main" val="1003227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AI &amp; ML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99013"/>
            <a:ext cx="8229600" cy="838200"/>
          </a:xfrm>
        </p:spPr>
        <p:txBody>
          <a:bodyPr wrap="square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1E252E"/>
                </a:solidFill>
                <a:latin typeface="Times New Roman"/>
              </a:rPr>
              <a:t>9.  Gantt Chart — Workstreams to the Week 8 Seam</a:t>
            </a:r>
            <a:endParaRPr lang="en-IN" sz="32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A1DB53-C7B5-447D-92BE-95CEA5CB041B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b="1" dirty="0"/>
              <a:t>DEPARTMENT OF ARTIFICIAL INTELLIGENCE AND MACHINE LEARNING</a:t>
            </a:r>
          </a:p>
          <a:p>
            <a:pPr algn="ctr"/>
            <a:r>
              <a:rPr lang="en-US" sz="800" b="1" dirty="0"/>
              <a:t>ACHARYA INSTITUTE OF TECHNOLOGY</a:t>
            </a:r>
            <a:endParaRPr lang="en-IN" sz="800" b="1" dirty="0"/>
          </a:p>
        </p:txBody>
      </p:sp>
      <p:sp>
        <p:nvSpPr>
          <p:cNvPr id="24" name="Rounded Rectangle 23"/>
          <p:cNvSpPr/>
          <p:nvPr/>
        </p:nvSpPr>
        <p:spPr>
          <a:xfrm>
            <a:off x="5440680" y="1133856"/>
            <a:ext cx="201168" cy="128016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715000" y="1088136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6E7883"/>
                </a:solidFill>
                <a:latin typeface="Times New Roman"/>
              </a:rPr>
              <a:t>Delivered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7688" y="1133856"/>
            <a:ext cx="201168" cy="128016"/>
          </a:xfrm>
          <a:prstGeom prst="roundRect">
            <a:avLst>
              <a:gd name="adj" fmla="val 50000"/>
            </a:avLst>
          </a:prstGeom>
          <a:solidFill>
            <a:srgbClr val="F28E0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922008" y="1088136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6E7883"/>
                </a:solidFill>
                <a:latin typeface="Times New Roman"/>
              </a:rPr>
              <a:t>In progress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54696" y="1133856"/>
            <a:ext cx="201168" cy="128016"/>
          </a:xfrm>
          <a:prstGeom prst="roundRect">
            <a:avLst>
              <a:gd name="adj" fmla="val 50000"/>
            </a:avLst>
          </a:prstGeom>
          <a:solidFill>
            <a:srgbClr val="D3DAE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129016" y="1088136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6E7883"/>
                </a:solidFill>
                <a:latin typeface="Times New Roman"/>
              </a:rPr>
              <a:t>Planned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1261872"/>
            <a:ext cx="6915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6E7883"/>
                </a:solidFill>
                <a:latin typeface="Times New Roman"/>
              </a:rPr>
              <a:t>W1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40680" y="1517904"/>
            <a:ext cx="7315" cy="3621024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132195" y="1261872"/>
            <a:ext cx="6915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6E7883"/>
                </a:solidFill>
                <a:latin typeface="Times New Roman"/>
              </a:rPr>
              <a:t>W2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32195" y="1517904"/>
            <a:ext cx="7315" cy="3621024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823710" y="1261872"/>
            <a:ext cx="6915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6E7883"/>
                </a:solidFill>
                <a:latin typeface="Times New Roman"/>
              </a:rPr>
              <a:t>W3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23710" y="1517904"/>
            <a:ext cx="7315" cy="3621024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515225" y="1261872"/>
            <a:ext cx="6915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6E7883"/>
                </a:solidFill>
                <a:latin typeface="Times New Roman"/>
              </a:rPr>
              <a:t>W4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15225" y="1517904"/>
            <a:ext cx="7315" cy="3621024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206740" y="1261872"/>
            <a:ext cx="6915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6E7883"/>
                </a:solidFill>
                <a:latin typeface="Times New Roman"/>
              </a:rPr>
              <a:t>W5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06740" y="1517904"/>
            <a:ext cx="7315" cy="3621024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898255" y="1261872"/>
            <a:ext cx="6915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6E7883"/>
                </a:solidFill>
                <a:latin typeface="Times New Roman"/>
              </a:rPr>
              <a:t>W6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98255" y="1517904"/>
            <a:ext cx="7315" cy="3621024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589770" y="1261872"/>
            <a:ext cx="6915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6E7883"/>
                </a:solidFill>
                <a:latin typeface="Times New Roman"/>
              </a:rPr>
              <a:t>W7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89770" y="1517904"/>
            <a:ext cx="7315" cy="3621024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0281285" y="1261872"/>
            <a:ext cx="6915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6E7883"/>
                </a:solidFill>
                <a:latin typeface="Times New Roman"/>
              </a:rPr>
              <a:t>W8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281285" y="1517904"/>
            <a:ext cx="7315" cy="3621024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10965484" y="1517904"/>
            <a:ext cx="7315" cy="3621024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2743200" y="1517904"/>
            <a:ext cx="8229600" cy="301752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2834640" y="1600200"/>
            <a:ext cx="2514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E252E"/>
                </a:solidFill>
                <a:latin typeface="Times New Roman"/>
              </a:rPr>
              <a:t>Discovery &amp; candidate pool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68112" y="1581912"/>
            <a:ext cx="2019680" cy="19202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FFFFFF"/>
                </a:solidFill>
                <a:latin typeface="Times New Roman"/>
              </a:rPr>
              <a:t>DONE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34640" y="1901952"/>
            <a:ext cx="2514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E252E"/>
                </a:solidFill>
                <a:latin typeface="Times New Roman"/>
              </a:rPr>
              <a:t>Density scorer + calibration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68112" y="1883664"/>
            <a:ext cx="1328166" cy="19202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FFFFFF"/>
                </a:solidFill>
                <a:latin typeface="Times New Roman"/>
              </a:rPr>
              <a:t>DONE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0" y="2121408"/>
            <a:ext cx="8229600" cy="301752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2834640" y="2203703"/>
            <a:ext cx="2514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E252E"/>
                </a:solidFill>
                <a:latin typeface="Times New Roman"/>
              </a:rPr>
              <a:t>Triage atom — triage.sh v1.2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68112" y="2185415"/>
            <a:ext cx="2019680" cy="19202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FFFFFF"/>
                </a:solidFill>
                <a:latin typeface="Times New Roman"/>
              </a:rPr>
              <a:t>DONE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34640" y="2505456"/>
            <a:ext cx="2514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E252E"/>
                </a:solidFill>
                <a:latin typeface="Times New Roman"/>
              </a:rPr>
              <a:t>runner.py + corpus ledger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59627" y="2487168"/>
            <a:ext cx="1328166" cy="19202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FFFFFF"/>
                </a:solidFill>
                <a:latin typeface="Times New Roman"/>
              </a:rPr>
              <a:t>DONE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0" y="2724912"/>
            <a:ext cx="8229600" cy="301752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2834640" y="2807208"/>
            <a:ext cx="2514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E252E"/>
                </a:solidFill>
                <a:latin typeface="Times New Roman"/>
              </a:rPr>
              <a:t>Static baselines pinned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59627" y="2788920"/>
            <a:ext cx="1328166" cy="19202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FFFFFF"/>
                </a:solidFill>
                <a:latin typeface="Times New Roman"/>
              </a:rPr>
              <a:t>DONE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834640" y="3108960"/>
            <a:ext cx="2514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E252E"/>
                </a:solidFill>
                <a:latin typeface="Times New Roman"/>
              </a:rPr>
              <a:t>Metric spec — frozen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468112" y="3090672"/>
            <a:ext cx="636651" cy="19202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FFFFFF"/>
                </a:solidFill>
                <a:latin typeface="Times New Roman"/>
              </a:rPr>
              <a:t>DONE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0" y="3328415"/>
            <a:ext cx="8229600" cy="301752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2834640" y="3410711"/>
            <a:ext cx="2514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E252E"/>
                </a:solidFill>
                <a:latin typeface="Times New Roman"/>
              </a:rPr>
              <a:t>SOP v1.1 + operator sheets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468112" y="3392423"/>
            <a:ext cx="2019680" cy="19202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FFFFFF"/>
                </a:solidFill>
                <a:latin typeface="Times New Roman"/>
              </a:rPr>
              <a:t>DONE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34640" y="3712463"/>
            <a:ext cx="2514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E252E"/>
                </a:solidFill>
                <a:latin typeface="Times New Roman"/>
              </a:rPr>
              <a:t>Tracer prototype + live demo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851142" y="3694176"/>
            <a:ext cx="636651" cy="19202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FFFFFF"/>
                </a:solidFill>
                <a:latin typeface="Times New Roman"/>
              </a:rPr>
              <a:t>DONE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0" y="3931920"/>
            <a:ext cx="8229600" cy="301752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2834640" y="4014215"/>
            <a:ext cx="2514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E252E"/>
                </a:solidFill>
                <a:latin typeface="Times New Roman"/>
              </a:rPr>
              <a:t>Corpus build — 558 repos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851142" y="3995928"/>
            <a:ext cx="2019680" cy="192024"/>
          </a:xfrm>
          <a:prstGeom prst="roundRect">
            <a:avLst>
              <a:gd name="adj" fmla="val 50000"/>
            </a:avLst>
          </a:prstGeom>
          <a:solidFill>
            <a:srgbClr val="F28E0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FFFFFF"/>
                </a:solidFill>
                <a:latin typeface="Times New Roman"/>
              </a:rPr>
              <a:t>IN PROGRESS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834640" y="4315968"/>
            <a:ext cx="2514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6E7883"/>
                </a:solidFill>
                <a:latin typeface="Times New Roman"/>
              </a:rPr>
              <a:t>Workload capture (ins2)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542656" y="4297680"/>
            <a:ext cx="2019680" cy="192024"/>
          </a:xfrm>
          <a:prstGeom prst="roundRect">
            <a:avLst>
              <a:gd name="adj" fmla="val 50000"/>
            </a:avLst>
          </a:prstGeom>
          <a:solidFill>
            <a:srgbClr val="D3DAE1"/>
          </a:solidFill>
          <a:ln>
            <a:noFill/>
          </a:ln>
          <a:effectLst/>
        </p:spPr>
        <p:txBody>
          <a:bodyPr rtlCol="0" anchor="ctr" lIns="0" rIns="0" tIns="0" bIns="0"/>
          <a:lstStyle/>
          <a:p/>
        </p:txBody>
      </p:sp>
      <p:sp>
        <p:nvSpPr>
          <p:cNvPr id="72" name="Rectangle 71"/>
          <p:cNvSpPr/>
          <p:nvPr/>
        </p:nvSpPr>
        <p:spPr>
          <a:xfrm>
            <a:off x="2743200" y="4535424"/>
            <a:ext cx="8229600" cy="301752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2834640" y="4617720"/>
            <a:ext cx="2514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6E7883"/>
                </a:solidFill>
                <a:latin typeface="Times New Roman"/>
              </a:rPr>
              <a:t>Tracing + normalisation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542656" y="4599432"/>
            <a:ext cx="2711196" cy="192024"/>
          </a:xfrm>
          <a:prstGeom prst="roundRect">
            <a:avLst>
              <a:gd name="adj" fmla="val 50000"/>
            </a:avLst>
          </a:prstGeom>
          <a:solidFill>
            <a:srgbClr val="D3DAE1"/>
          </a:solidFill>
          <a:ln>
            <a:noFill/>
          </a:ln>
          <a:effectLst/>
        </p:spPr>
        <p:txBody>
          <a:bodyPr rtlCol="0" anchor="ctr" lIns="0" rIns="0" tIns="0" bIns="0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2834640" y="4919472"/>
            <a:ext cx="2514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6E7883"/>
                </a:solidFill>
                <a:latin typeface="Times New Roman"/>
              </a:rPr>
              <a:t>Fusion → H2a → GO / NO-GO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925686" y="4901184"/>
            <a:ext cx="2019680" cy="192024"/>
          </a:xfrm>
          <a:prstGeom prst="roundRect">
            <a:avLst>
              <a:gd name="adj" fmla="val 50000"/>
            </a:avLst>
          </a:prstGeom>
          <a:solidFill>
            <a:srgbClr val="D3DAE1"/>
          </a:solidFill>
          <a:ln>
            <a:noFill/>
          </a:ln>
          <a:effectLst/>
        </p:spPr>
        <p:txBody>
          <a:bodyPr rtlCol="0" anchor="ctr" lIns="0" rIns="0" tIns="0" bIns="0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2743200" y="3931920"/>
            <a:ext cx="8229600" cy="10972"/>
          </a:xfrm>
          <a:prstGeom prst="rect">
            <a:avLst/>
          </a:prstGeom>
          <a:solidFill>
            <a:srgbClr val="D7DD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7402353" y="1426463"/>
            <a:ext cx="18288" cy="3712463"/>
          </a:xfrm>
          <a:prstGeom prst="rect">
            <a:avLst/>
          </a:prstGeom>
          <a:solidFill>
            <a:srgbClr val="B3332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6679977" y="51663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B33322"/>
                </a:solidFill>
                <a:latin typeface="Times New Roman"/>
              </a:rPr>
              <a:t>▲  TODAY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2743200" y="5431536"/>
            <a:ext cx="8229600" cy="841248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2962656" y="5550408"/>
            <a:ext cx="779068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000" b="1">
                <a:solidFill>
                  <a:srgbClr val="1E252E"/>
                </a:solidFill>
                <a:latin typeface="Times New Roman"/>
              </a:rPr>
              <a:t>Eight of twelve workstreams are delivered, in the first three weeks. </a:t>
            </a:r>
            <a:r>
              <a:rPr sz="1000" b="0">
                <a:solidFill>
                  <a:srgbClr val="6E7883"/>
                </a:solidFill>
                <a:latin typeface="Times New Roman"/>
              </a:rPr>
              <a:t>All four of MANIFEST §7's Phase-1 blockers — the Pyright pin, the PyCG parse-rate measurement, runner.py and discover_candidates.py — were cleared before Phase 1 opened.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E252E"/>
                </a:solidFill>
                <a:latin typeface="Times New Roman"/>
              </a:rPr>
              <a:t>The chart stops at the Week 8 seam </a:t>
            </a:r>
            <a:r>
              <a:rPr sz="1000" b="0">
                <a:solidFill>
                  <a:srgbClr val="6E7883"/>
                </a:solidFill>
                <a:latin typeface="Times New Roman"/>
              </a:rPr>
              <a:t>because H2a, DynBench-Core and the feasibility survey already form a complete paper there. H2b-lite and the release run weeks 8–12 beyond it.</a:t>
            </a:r>
          </a:p>
        </p:txBody>
      </p:sp>
    </p:spTree>
    <p:extLst>
      <p:ext uri="{BB962C8B-B14F-4D97-AF65-F5344CB8AC3E}">
        <p14:creationId xmlns:p14="http://schemas.microsoft.com/office/powerpoint/2010/main" val="1003227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AI &amp; ML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99013"/>
            <a:ext cx="8229600" cy="838200"/>
          </a:xfrm>
        </p:spPr>
        <p:txBody>
          <a:bodyPr wrap="square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1E252E"/>
                </a:solidFill>
                <a:latin typeface="Times New Roman"/>
              </a:rPr>
              <a:t>10.  References</a:t>
            </a:r>
            <a:endParaRPr lang="en-IN" sz="32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A1DB53-C7B5-447D-92BE-95CEA5CB041B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b="1" dirty="0"/>
              <a:t>DEPARTMENT OF ARTIFICIAL INTELLIGENCE AND MACHINE LEARNING</a:t>
            </a:r>
          </a:p>
          <a:p>
            <a:pPr algn="ctr"/>
            <a:r>
              <a:rPr lang="en-US" sz="800" b="1" dirty="0"/>
              <a:t>ACHARYA INSTITUTE OF TECHNOLOGY</a:t>
            </a:r>
            <a:endParaRPr lang="en-IN" sz="8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2743200" y="10789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28E01"/>
                </a:solidFill>
                <a:latin typeface="Times New Roman"/>
              </a:rPr>
              <a:t>[1]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45536" y="1078992"/>
            <a:ext cx="357530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252E"/>
                </a:solidFill>
                <a:latin typeface="Times New Roman"/>
              </a:rPr>
              <a:t>V. Salis, T. Sotiropoulos, P. Louridas, D. Spinellis, and D. Mitropoulos, “PyCG: Practical call graph generation in Python,” in Proc. 43rd Int. Conf. Software Engineering (ICSE), 2021, pp. 1646–1657.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2048256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28E01"/>
                </a:solidFill>
                <a:latin typeface="Times New Roman"/>
              </a:rPr>
              <a:t>[2]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45536" y="2048256"/>
            <a:ext cx="357530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252E"/>
                </a:solidFill>
                <a:latin typeface="Times New Roman"/>
              </a:rPr>
              <a:t>A. S. P, S. Shankar, S. Singh, P. S. Upadhyaya, and A. Kumar, “Graph-aware neuro-symbolic approaches for legacy modernization: A systematic review,” 2026, under review.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301752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28E01"/>
                </a:solidFill>
                <a:latin typeface="Times New Roman"/>
              </a:rPr>
              <a:t>[3]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45536" y="3017520"/>
            <a:ext cx="357530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252E"/>
                </a:solidFill>
                <a:latin typeface="Times New Roman"/>
              </a:rPr>
              <a:t>M. Shannon, “PEP 669 — Low impact monitoring for CPython,” Python Enhancement Proposals, Python Software Foundation, 2022.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398678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28E01"/>
                </a:solidFill>
                <a:latin typeface="Times New Roman"/>
              </a:rPr>
              <a:t>[4]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45536" y="3986784"/>
            <a:ext cx="357530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252E"/>
                </a:solidFill>
                <a:latin typeface="Times New Roman"/>
              </a:rPr>
              <a:t>R. Bairi, A. Sonwane, A. Kanade, S. Iyer, S. Parthasarathy, S. Rajamani, B. Ashok, and S. Shet, “CodePlan: Repository-level coding using LLMs and planning,” in Proc. Int. Conf. Learning Representations (ICLR), 2024.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4956048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28E01"/>
                </a:solidFill>
                <a:latin typeface="Times New Roman"/>
              </a:rPr>
              <a:t>[5]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45536" y="4956048"/>
            <a:ext cx="357530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252E"/>
                </a:solidFill>
                <a:latin typeface="Times New Roman"/>
              </a:rPr>
              <a:t>S. Ouyang, W. Yu, K. Ma, Z. Xiao, Z. Zhang, M. Jia, J. Han, H. Zhang, and D. Yu, “RepoGraph: Enhancing AI software engineering with repository-level code graph,” in Proc. Int. Conf. Learning Representations (ICLR), 2025.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59" y="10789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28E01"/>
                </a:solidFill>
                <a:latin typeface="Times New Roman"/>
              </a:rPr>
              <a:t>[6]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97496" y="1078992"/>
            <a:ext cx="357530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252E"/>
                </a:solidFill>
                <a:latin typeface="Times New Roman"/>
              </a:rPr>
              <a:t>Y. Pan, J. Zhao, C. Wang, and Q. Liu, “RepoTransBench: A real-world benchmark for repository-level code translation,” arXiv:2412.17744, 2024.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59" y="2048256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28E01"/>
                </a:solidFill>
                <a:latin typeface="Times New Roman"/>
              </a:rPr>
              <a:t>[7]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97496" y="2048256"/>
            <a:ext cx="357530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252E"/>
                </a:solidFill>
                <a:latin typeface="Times New Roman"/>
              </a:rPr>
              <a:t>A. R. Ibrahimzada, K. Ke, M. Pawagi, M. S. Abid, R. Pan, S. Sinha, and R. Jabbarvand, “Repository-level compositional code translation and validation,” arXiv:2410.24117, 2024.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59" y="301752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28E01"/>
                </a:solidFill>
                <a:latin typeface="Times New Roman"/>
              </a:rPr>
              <a:t>[8]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97496" y="3017520"/>
            <a:ext cx="357530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252E"/>
                </a:solidFill>
                <a:latin typeface="Times New Roman"/>
              </a:rPr>
              <a:t>D. Guo, S. Ren, S. Lu, Z. Feng, D. Tang, S. Liu, L. Zhou, N. Duan, A. Svyatkovskiy, S. Fu, M. Tufano, S. Deng, C. Clement, D. Drain, N. Sundaresan, J. Yin, D. Jiang, and M. Zhou, “GraphCodeBERT: Pre-training code representations with data flow,” in Proc. Int. Conf. Learning Representations (ICLR), 2021.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59" y="398678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28E01"/>
                </a:solidFill>
                <a:latin typeface="Times New Roman"/>
              </a:rPr>
              <a:t>[9]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97496" y="3986784"/>
            <a:ext cx="357530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252E"/>
                </a:solidFill>
                <a:latin typeface="Times New Roman"/>
              </a:rPr>
              <a:t>Microsoft, “Pyright: Static type checker for Python,” version 1.1.411, 2026. [Online]. Available: https://github.com/microsoft/pyright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5159" y="4956048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28E01"/>
                </a:solidFill>
                <a:latin typeface="Times New Roman"/>
              </a:rPr>
              <a:t>[10]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97496" y="4956048"/>
            <a:ext cx="357530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252E"/>
                </a:solidFill>
                <a:latin typeface="Times New Roman"/>
              </a:rPr>
              <a:t>Python Software Foundation, “ast — Abstract syntax trees,” Python 3.12 documentation, 2026. [Online]. Available: https://docs.python.org/3.12/library/ast.html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0" y="598017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1">
                <a:solidFill>
                  <a:srgbClr val="6E7883"/>
                </a:solidFill>
                <a:latin typeface="Times New Roman"/>
              </a:rPr>
              <a:t>IEEE reference format.  Internal project documents (MANIFEST.md, metric_spec_h2a.md, density_scorer_spec.md) are cited in the report, not here.</a:t>
            </a:r>
          </a:p>
        </p:txBody>
      </p:sp>
    </p:spTree>
    <p:extLst>
      <p:ext uri="{BB962C8B-B14F-4D97-AF65-F5344CB8AC3E}">
        <p14:creationId xmlns:p14="http://schemas.microsoft.com/office/powerpoint/2010/main" val="1003227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AI &amp; ML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CA009B-2FB7-45FB-816D-285EF3CCBA2C}"/>
              </a:ext>
            </a:extLst>
          </p:cNvPr>
          <p:cNvSpPr/>
          <p:nvPr/>
        </p:nvSpPr>
        <p:spPr>
          <a:xfrm>
            <a:off x="4367388" y="2257107"/>
            <a:ext cx="474862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dirty="0">
                <a:solidFill>
                  <a:srgbClr val="1E25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dwardian Script ITC" pitchFamily="66" charset="0"/>
                <a:cs typeface="Arial" charset="0"/>
              </a:rPr>
              <a:t>Thank you</a:t>
            </a:r>
            <a:endParaRPr lang="en-IN" sz="6600" dirty="0">
              <a:latin typeface="Arial" charset="0"/>
              <a:cs typeface="Arial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4EA726-0E29-4E1A-A463-6CCE28D687EC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DEPARTMENT OF ARTIFICIAL INTELLIGENCE AND MACHINE LEARNING</a:t>
            </a:r>
          </a:p>
          <a:p>
            <a:pPr algn="ctr"/>
            <a:r>
              <a:rPr lang="en-US" sz="800" dirty="0"/>
              <a:t>ACHARYA INSTITUTE OF TECHNOLOGY</a:t>
            </a:r>
            <a:endParaRPr lang="en-IN" sz="800" dirty="0"/>
          </a:p>
        </p:txBody>
      </p:sp>
    </p:spTree>
    <p:extLst>
      <p:ext uri="{BB962C8B-B14F-4D97-AF65-F5344CB8AC3E}">
        <p14:creationId xmlns:p14="http://schemas.microsoft.com/office/powerpoint/2010/main" val="351643322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Times New Roman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39</TotalTime>
  <Words>370</Words>
  <Application>Microsoft Office PowerPoint</Application>
  <PresentationFormat>Widescreen</PresentationFormat>
  <Paragraphs>69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Edwardian Script ITC</vt:lpstr>
      <vt:lpstr>Graphik</vt:lpstr>
      <vt:lpstr>Retrospect</vt:lpstr>
      <vt:lpstr>PowerPoint Presentation</vt:lpstr>
      <vt:lpstr>&lt;&lt;Project Title&gt;&gt;</vt:lpstr>
      <vt:lpstr>&lt;&lt;CONTENT&gt;&gt;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niraj</dc:creator>
  <cp:lastModifiedBy>Dr.S.Anu Pallavi</cp:lastModifiedBy>
  <cp:revision>11</cp:revision>
  <dcterms:created xsi:type="dcterms:W3CDTF">2024-03-22T10:12:46Z</dcterms:created>
  <dcterms:modified xsi:type="dcterms:W3CDTF">2026-08-12T06:28:12Z</dcterms:modified>
</cp:coreProperties>
</file>