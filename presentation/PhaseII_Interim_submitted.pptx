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" dt="2026-08-15T07:47:15.888"/>
    <p1510:client id="{37C5B80D-4100-4735-6AF7-6AC2558BB974}" v="595" dt="2026-08-16T09:58:50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E833-4932-4F1B-9E41-84D3B1F1248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AA484-DC03-4890-89A6-31823B023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143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258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569-3823-463B-B25F-13C27393021A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6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827-5694-4924-A468-5E7CF0D57C63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7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E1597-8F9D-4834-9911-12A20386072F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81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1E866-7D92-4B6C-9FDD-665E0D276B40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0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5A19-B521-4A44-83CF-C0280A2B17C3}" type="datetime4">
              <a:rPr lang="en-US" smtClean="0"/>
              <a:t>August 16,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495C-3575-49EE-9D3A-60F8F43B75FA}" type="datetime4">
              <a:rPr lang="en-US" smtClean="0"/>
              <a:t>August 16,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14A1-5873-4381-91C9-8F4CBF2CF949}" type="datetime4">
              <a:rPr lang="en-US" smtClean="0"/>
              <a:t>August 16,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2EFBD3-A80D-4169-A4C5-8FF63F744429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9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E544C-43FE-443D-BC80-E2C9FBF5F700}" type="datetime4">
              <a:rPr lang="en-US" smtClean="0"/>
              <a:t>August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D6B-903B-4A47-B06F-D5221159FB56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7FDB-6A6D-4E09-A36C-031F991C6AB5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392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A9E2C0-7A38-4B4E-B0B1-069ED4506132}" type="datetime4">
              <a:rPr lang="en-US" smtClean="0"/>
              <a:t>August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2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09080" y="3643668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&amp;ML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789647" y="1957578"/>
            <a:ext cx="7772400" cy="8686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100" b="1" i="0" dirty="0" err="1">
                <a:solidFill>
                  <a:srgbClr val="1E252E"/>
                </a:solidFill>
                <a:latin typeface="Times New Roman"/>
                <a:cs typeface="Times New Roman"/>
              </a:rPr>
              <a:t>TraceWeave</a:t>
            </a:r>
            <a:r>
              <a:rPr sz="2100" b="1" i="0" dirty="0">
                <a:solidFill>
                  <a:srgbClr val="1E252E"/>
                </a:solidFill>
                <a:latin typeface="Times New Roman"/>
                <a:cs typeface="Times New Roman"/>
              </a:rPr>
              <a:t>-Core: Measuring What Static Call-Graph Extraction Misses in Real Python Repositories</a:t>
            </a:r>
            <a:endParaRPr lang="en-US" sz="2100" b="1" i="0" dirty="0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14541" y="1627452"/>
            <a:ext cx="5526950" cy="4870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6E7883"/>
                </a:solidFill>
                <a:latin typeface="Times New Roman"/>
                <a:cs typeface="Times New Roman"/>
              </a:rPr>
              <a:t>Project Phase-II  ·  Interim Presentation</a:t>
            </a:r>
            <a:endParaRPr lang="en-US" sz="1500" b="1" i="0">
              <a:solidFill>
                <a:srgbClr val="6E7883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6E7883"/>
                </a:solidFill>
                <a:latin typeface="Times New Roman"/>
                <a:cs typeface="Times New Roman"/>
              </a:rPr>
              <a:t>on  </a:t>
            </a:r>
            <a:r>
              <a:rPr lang="en-GB" sz="1200">
                <a:solidFill>
                  <a:srgbClr val="6E7883"/>
                </a:solidFill>
                <a:latin typeface="Times New Roman"/>
                <a:cs typeface="Times New Roman"/>
              </a:rPr>
              <a:t>[18/08/20226]</a:t>
            </a:r>
            <a:endParaRPr sz="1200" b="0" i="0">
              <a:solidFill>
                <a:srgbClr val="6E7883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7420" y="2824510"/>
            <a:ext cx="142481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i="1">
                <a:latin typeface="Times New Roman"/>
                <a:cs typeface="Times New Roman"/>
              </a:rPr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21220"/>
              </p:ext>
            </p:extLst>
          </p:nvPr>
        </p:nvGraphicFramePr>
        <p:xfrm>
          <a:off x="2709834" y="3427695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Abhishek 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1AY23AI004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noProof="0" dirty="0" err="1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Pravith</a:t>
                      </a:r>
                      <a:r>
                        <a:rPr lang="en-US" sz="1300" b="0" i="0" u="none" strike="noStrike" noProof="0" dirty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 S Upadhyaya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1AY23AI086</a:t>
                      </a:r>
                      <a:endParaRPr lang="en-US" sz="1300" b="0" i="0">
                        <a:solidFill>
                          <a:srgbClr val="1E252E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Sankalp Shankar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1AY23AI101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Surabhi Singh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i="0">
                          <a:solidFill>
                            <a:srgbClr val="1E252E"/>
                          </a:solidFill>
                          <a:latin typeface="Times New Roman"/>
                          <a:cs typeface="Times New Roman"/>
                        </a:rPr>
                        <a:t>1AY23AI125</a:t>
                      </a:r>
                      <a:endParaRPr lang="en-IN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Guide Name: </a:t>
                      </a:r>
                    </a:p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lang="en-IN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1E252E"/>
                          </a:solidFill>
                          <a:latin typeface="Times New Roman"/>
                        </a:rPr>
                        <a:t>[Guide Name]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6E7883"/>
                          </a:solidFill>
                          <a:latin typeface="Times New Roman"/>
                        </a:rPr>
                        <a:t>[Designation]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560294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Department of Artificial Intelligence and Machine Learning</a:t>
            </a:r>
            <a:endParaRPr lang="en-IN" sz="2400">
              <a:latin typeface="Times New Roman"/>
              <a:cs typeface="Times New Roman"/>
            </a:endParaRPr>
          </a:p>
          <a:p>
            <a:pPr algn="ctr"/>
            <a:r>
              <a:rPr lang="en-US" sz="2000" b="1">
                <a:latin typeface="Times New Roman"/>
                <a:cs typeface="Times New Roman"/>
              </a:rPr>
              <a:t>Acharya Institute of Technology</a:t>
            </a:r>
            <a:endParaRPr lang="en-IN" sz="2000">
              <a:latin typeface="Times New Roman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 err="1">
                <a:latin typeface="Times New Roman"/>
                <a:ea typeface="+mj-ea"/>
                <a:cs typeface="Times New Roman"/>
              </a:rPr>
              <a:t>Soladevanahalli</a:t>
            </a:r>
            <a:r>
              <a:rPr lang="en-IN" sz="1600" baseline="0" dirty="0">
                <a:latin typeface="Times New Roman"/>
                <a:ea typeface="+mj-ea"/>
                <a:cs typeface="Times New Roman"/>
              </a:rPr>
              <a:t>,</a:t>
            </a:r>
            <a:r>
              <a:rPr lang="en-IN" sz="1600" dirty="0">
                <a:latin typeface="Times New Roman"/>
                <a:ea typeface="+mj-ea"/>
                <a:cs typeface="Times New Roman"/>
              </a:rPr>
              <a:t> Bengaluru 560 107</a:t>
            </a:r>
            <a:endParaRPr lang="en-IN" sz="2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6AF9B-DBF8-4472-9211-796656BBF0C4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56FDA-A5AE-4639-8C71-AB1AF8C3BE0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FA58E6-51ED-9AAA-BC29-A8912A82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985" y="286603"/>
            <a:ext cx="8371914" cy="599110"/>
          </a:xfrm>
        </p:spPr>
        <p:txBody>
          <a:bodyPr/>
          <a:lstStyle/>
          <a:p>
            <a:r>
              <a:rPr lang="en-US" sz="2600" b="1">
                <a:solidFill>
                  <a:srgbClr val="1F3864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65FB1F-A33C-B2DF-E8B4-F055F9C30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15181"/>
              </p:ext>
            </p:extLst>
          </p:nvPr>
        </p:nvGraphicFramePr>
        <p:xfrm>
          <a:off x="2829485" y="1143000"/>
          <a:ext cx="8382480" cy="45719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2958">
                  <a:extLst>
                    <a:ext uri="{9D8B030D-6E8A-4147-A177-3AD203B41FA5}">
                      <a16:colId xmlns:a16="http://schemas.microsoft.com/office/drawing/2014/main" val="2855278599"/>
                    </a:ext>
                  </a:extLst>
                </a:gridCol>
                <a:gridCol w="5829903">
                  <a:extLst>
                    <a:ext uri="{9D8B030D-6E8A-4147-A177-3AD203B41FA5}">
                      <a16:colId xmlns:a16="http://schemas.microsoft.com/office/drawing/2014/main" val="4105030825"/>
                    </a:ext>
                  </a:extLst>
                </a:gridCol>
                <a:gridCol w="1729619">
                  <a:extLst>
                    <a:ext uri="{9D8B030D-6E8A-4147-A177-3AD203B41FA5}">
                      <a16:colId xmlns:a16="http://schemas.microsoft.com/office/drawing/2014/main" val="1242934833"/>
                    </a:ext>
                  </a:extLst>
                </a:gridCol>
              </a:tblGrid>
              <a:tr h="459619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No.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Contents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Page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21791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Problem Statement &amp; Objective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00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1060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Flow / Methodology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4–5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58384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Demo of Project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074228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Results / Output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50033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Status of Paper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8–9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001182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Proposed Outcome vs Actual Outcome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10–11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3489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Conclusion, Deliverables &amp; Impact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12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41228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Individual Responsibilities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8950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Gantt Chart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0659"/>
                  </a:ext>
                </a:extLst>
              </a:tr>
              <a:tr h="411232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References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2009" marR="72009" marT="36005" marB="36005" anchor="ctr">
                    <a:lnL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8055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  <a:cs typeface="Times New Roman"/>
              </a:rPr>
              <a:t>1.  Problem Statement &amp; Objective</a:t>
            </a:r>
            <a:endParaRPr lang="en-IN" sz="3200" b="1"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3977639" cy="27889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1261872"/>
            <a:ext cx="3575303" cy="16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  <a:cs typeface="Times New Roman"/>
              </a:rPr>
              <a:t>THE PROBLEM</a:t>
            </a:r>
            <a:endParaRPr lang="en-US" sz="1150" b="1" i="0">
              <a:solidFill>
                <a:srgbClr val="F28E01"/>
              </a:solidFill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44369" y="1503470"/>
            <a:ext cx="3614522" cy="2008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</a:rPr>
              <a:t>•</a:t>
            </a:r>
            <a:r>
              <a:rPr sz="1250" b="1" dirty="0">
                <a:solidFill>
                  <a:srgbClr val="F28E01"/>
                </a:solidFill>
                <a:latin typeface="Times New Roman"/>
                <a:cs typeface="Times New Roman"/>
              </a:rPr>
              <a:t>  </a:t>
            </a:r>
            <a:r>
              <a:rPr sz="1250" b="0">
                <a:solidFill>
                  <a:srgbClr val="1E252E"/>
                </a:solidFill>
                <a:latin typeface="Times New Roman"/>
                <a:cs typeface="Times New Roman"/>
              </a:rPr>
              <a:t>Repository-level modernization is bottlenecked by call-graph quality, not model capacity.</a:t>
            </a:r>
            <a:endParaRPr sz="1250" b="0" dirty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 dirty="0">
                <a:solidFill>
                  <a:srgbClr val="F28E01"/>
                </a:solidFill>
                <a:latin typeface="Times New Roman"/>
                <a:cs typeface="Times New Roman"/>
              </a:rPr>
              <a:t>•  </a:t>
            </a:r>
            <a:r>
              <a:rPr sz="1250" b="0" dirty="0">
                <a:solidFill>
                  <a:srgbClr val="1E252E"/>
                </a:solidFill>
                <a:latin typeface="Times New Roman"/>
                <a:cs typeface="Times New Roman"/>
              </a:rPr>
              <a:t>Python decides many calls at run time — </a:t>
            </a:r>
            <a:r>
              <a:rPr sz="1250" b="0" dirty="0" err="1">
                <a:solidFill>
                  <a:srgbClr val="1E252E"/>
                </a:solidFill>
                <a:latin typeface="Times New Roman"/>
                <a:cs typeface="Times New Roman"/>
              </a:rPr>
              <a:t>getattr</a:t>
            </a:r>
            <a:r>
              <a:rPr sz="1250" b="0" dirty="0">
                <a:solidFill>
                  <a:srgbClr val="1E252E"/>
                </a:solidFill>
                <a:latin typeface="Times New Roman"/>
                <a:cs typeface="Times New Roman"/>
              </a:rPr>
              <a:t> dispatch, </a:t>
            </a:r>
            <a:r>
              <a:rPr sz="1250" b="0" dirty="0" err="1">
                <a:solidFill>
                  <a:srgbClr val="1E252E"/>
                </a:solidFill>
                <a:latin typeface="Times New Roman"/>
                <a:cs typeface="Times New Roman"/>
              </a:rPr>
              <a:t>importlib</a:t>
            </a:r>
            <a:r>
              <a:rPr sz="1250" b="0" dirty="0">
                <a:solidFill>
                  <a:srgbClr val="1E252E"/>
                </a:solidFill>
                <a:latin typeface="Times New Roman"/>
                <a:cs typeface="Times New Roman"/>
              </a:rPr>
              <a:t>, plugin registries, DI containers.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  <a:cs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  <a:cs typeface="Times New Roman"/>
              </a:rPr>
              <a:t>Static extractors cannot see those edges — and no one has measured how many are lost.</a:t>
            </a:r>
            <a:endParaRPr sz="1250" b="0" dirty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1">
                <a:solidFill>
                  <a:srgbClr val="F28E01"/>
                </a:solidFill>
                <a:latin typeface="Times New Roman"/>
                <a:cs typeface="Times New Roman"/>
              </a:rPr>
              <a:t>•  </a:t>
            </a:r>
            <a:r>
              <a:rPr sz="1250" b="0">
                <a:solidFill>
                  <a:srgbClr val="1E252E"/>
                </a:solidFill>
                <a:latin typeface="Times New Roman"/>
                <a:cs typeface="Times New Roman"/>
              </a:rPr>
              <a:t>A silently lossy graph makes an LLM code agent confidently wrong.</a:t>
            </a:r>
            <a:endParaRPr sz="1250" b="0" dirty="0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95159" y="1078992"/>
            <a:ext cx="3977640" cy="2788920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7" y="1261872"/>
            <a:ext cx="3575304" cy="16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  <a:cs typeface="Times New Roman"/>
              </a:rPr>
              <a:t>WHAT ONE MISS LOOKS LIKE</a:t>
            </a:r>
            <a:endParaRPr lang="en-US" sz="1150" b="1" i="0">
              <a:solidFill>
                <a:srgbClr val="F28E01"/>
              </a:solidFill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96327" y="1609343"/>
            <a:ext cx="3575304" cy="1775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dirty="0">
                <a:solidFill>
                  <a:srgbClr val="9FADBC"/>
                </a:solidFill>
                <a:latin typeface="Times New Roman"/>
                <a:cs typeface="Times New Roman"/>
              </a:rPr>
              <a:t>STATIC  (</a:t>
            </a:r>
            <a:r>
              <a:rPr sz="1050" b="1" dirty="0" err="1">
                <a:solidFill>
                  <a:srgbClr val="9FADBC"/>
                </a:solidFill>
                <a:latin typeface="Times New Roman"/>
                <a:cs typeface="Times New Roman"/>
              </a:rPr>
              <a:t>PyCG</a:t>
            </a:r>
            <a:r>
              <a:rPr sz="1050" b="1" dirty="0">
                <a:solidFill>
                  <a:srgbClr val="9FADBC"/>
                </a:solidFill>
                <a:latin typeface="Times New Roman"/>
                <a:cs typeface="Times New Roman"/>
              </a:rPr>
              <a:t> 0.0.8)</a:t>
            </a:r>
            <a:endParaRPr lang="en-US" sz="1050" b="1" dirty="0">
              <a:solidFill>
                <a:srgbClr val="9FADBC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Times New Roman"/>
                <a:cs typeface="Times New Roman"/>
              </a:rPr>
              <a:t>  main → dispatch</a:t>
            </a:r>
            <a:endParaRPr sz="1150" b="0" i="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 dirty="0">
                <a:solidFill>
                  <a:srgbClr val="FFFFFF"/>
                </a:solidFill>
                <a:latin typeface="Times New Roman"/>
                <a:cs typeface="Times New Roman"/>
              </a:rPr>
              <a:t>  dispatch → &lt;</a:t>
            </a:r>
            <a:r>
              <a:rPr sz="115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builtin</a:t>
            </a:r>
            <a:r>
              <a:rPr sz="1150" b="0" i="0" dirty="0">
                <a:solidFill>
                  <a:srgbClr val="FFFFFF"/>
                </a:solidFill>
                <a:latin typeface="Times New Roman"/>
                <a:cs typeface="Times New Roman"/>
              </a:rPr>
              <a:t>&gt;.</a:t>
            </a:r>
            <a:r>
              <a:rPr sz="115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getattr</a:t>
            </a:r>
            <a:endParaRPr sz="1150" b="0" i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050" b="1" dirty="0">
                <a:solidFill>
                  <a:srgbClr val="9FADBC"/>
                </a:solidFill>
                <a:latin typeface="Times New Roman"/>
                <a:cs typeface="Times New Roman"/>
              </a:rPr>
              <a:t>RUNTIME  (</a:t>
            </a:r>
            <a:r>
              <a:rPr sz="1050" b="1" dirty="0" err="1">
                <a:solidFill>
                  <a:srgbClr val="9FADBC"/>
                </a:solidFill>
                <a:latin typeface="Times New Roman"/>
                <a:cs typeface="Times New Roman"/>
              </a:rPr>
              <a:t>sys.setprofile</a:t>
            </a:r>
            <a:r>
              <a:rPr sz="1050" b="1" dirty="0">
                <a:solidFill>
                  <a:srgbClr val="9FADBC"/>
                </a:solidFill>
                <a:latin typeface="Times New Roman"/>
                <a:cs typeface="Times New Roman"/>
              </a:rPr>
              <a:t>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Times New Roman"/>
                <a:cs typeface="Times New Roman"/>
              </a:rPr>
              <a:t>  main → dispatch</a:t>
            </a:r>
            <a:endParaRPr sz="1150" b="0" i="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0" i="0" dirty="0">
                <a:solidFill>
                  <a:srgbClr val="FFFFFF"/>
                </a:solidFill>
                <a:latin typeface="Times New Roman"/>
                <a:cs typeface="Times New Roman"/>
              </a:rPr>
              <a:t>  dispatch → </a:t>
            </a:r>
            <a:r>
              <a:rPr sz="115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handle_email</a:t>
            </a:r>
            <a:endParaRPr sz="1150" b="0" i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B09A"/>
                </a:solidFill>
                <a:latin typeface="Times New Roman"/>
                <a:cs typeface="Times New Roman"/>
              </a:rPr>
              <a:t>✕  the second edge is real, executed, and invisible to static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8229600" cy="16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292608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901184"/>
            <a:ext cx="1554480" cy="726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  <a:cs typeface="Times New Roman"/>
              </a:rPr>
              <a:t>Measure the miss rate</a:t>
            </a:r>
            <a:endParaRPr lang="en-US" sz="130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  <a:cs typeface="Times New Roman"/>
              </a:rPr>
              <a:t>Recall of static extraction against runtime-observed edges (H2a)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920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01184"/>
            <a:ext cx="1554480" cy="564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  <a:cs typeface="Times New Roman"/>
              </a:rPr>
              <a:t>Name the mechanism</a:t>
            </a:r>
            <a:endParaRPr lang="en-US" sz="130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  <a:cs typeface="Times New Roman"/>
              </a:rPr>
              <a:t>Show misses concentrate in identifiable construct classes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3232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901184"/>
            <a:ext cx="1554480" cy="916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dirty="0">
                <a:solidFill>
                  <a:srgbClr val="1E252E"/>
                </a:solidFill>
                <a:latin typeface="Times New Roman"/>
                <a:cs typeface="Times New Roman"/>
              </a:rPr>
              <a:t>Release </a:t>
            </a:r>
            <a:r>
              <a:rPr sz="1300" b="1" i="0" dirty="0" err="1">
                <a:solidFill>
                  <a:srgbClr val="1E252E"/>
                </a:solidFill>
                <a:latin typeface="Times New Roman"/>
                <a:cs typeface="Times New Roman"/>
              </a:rPr>
              <a:t>DynBench</a:t>
            </a:r>
            <a:r>
              <a:rPr sz="1300" b="1" i="0" dirty="0">
                <a:solidFill>
                  <a:srgbClr val="1E252E"/>
                </a:solidFill>
                <a:latin typeface="Times New Roman"/>
                <a:cs typeface="Times New Roman"/>
              </a:rPr>
              <a:t>-Core</a:t>
            </a:r>
            <a:endParaRPr lang="en-US" sz="1300" b="1" i="0" dirty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dirty="0">
                <a:solidFill>
                  <a:srgbClr val="6E7883"/>
                </a:solidFill>
                <a:latin typeface="Times New Roman"/>
                <a:cs typeface="Times New Roman"/>
              </a:rPr>
              <a:t>Pinned repos, </a:t>
            </a:r>
            <a:r>
              <a:rPr sz="105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replayable</a:t>
            </a:r>
            <a:r>
              <a:rPr sz="1050" b="0" i="0" dirty="0">
                <a:solidFill>
                  <a:srgbClr val="6E7883"/>
                </a:solidFill>
                <a:latin typeface="Times New Roman"/>
                <a:cs typeface="Times New Roman"/>
              </a:rPr>
              <a:t> workloads, reference edge sets, harness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297680"/>
            <a:ext cx="1920240" cy="178308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9235440" y="4462272"/>
            <a:ext cx="365760" cy="365760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901184"/>
            <a:ext cx="1554480" cy="564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E252E"/>
                </a:solidFill>
                <a:latin typeface="Times New Roman"/>
                <a:cs typeface="Times New Roman"/>
              </a:rPr>
              <a:t>Report feasibility</a:t>
            </a:r>
            <a:endParaRPr lang="en-US" sz="130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  <a:cs typeface="Times New Roman"/>
              </a:rPr>
              <a:t>What it costs to trace real projects at corpus scale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35592" y="3643668"/>
            <a:ext cx="23365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/>
                <a:cs typeface="Times New Roman"/>
              </a:rPr>
              <a:t>   </a:t>
            </a: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  <a:cs typeface="Times New Roman"/>
              </a:rPr>
              <a:t>2.  Flow / Methodology — Measurement Pipeline  (1 of 2)</a:t>
            </a:r>
            <a:endParaRPr lang="en-IN" sz="3200" b="1"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800" b="1">
                <a:latin typeface="Times New Roman"/>
                <a:cs typeface="Times New Roman"/>
              </a:rPr>
              <a:t>DEPARTMENT OF ARTIFICIAL INTELLIGENCE AND MACHINE LEARNING</a:t>
            </a:r>
          </a:p>
          <a:p>
            <a:pPr algn="ctr"/>
            <a:r>
              <a:rPr lang="en-US" sz="800" b="1">
                <a:latin typeface="Times New Roman"/>
                <a:cs typeface="Times New Roman"/>
              </a:rPr>
              <a:t>ACHARYA INSTITUTE OF TECHNOLOGY</a:t>
            </a:r>
            <a:endParaRPr lang="en-IN" sz="800" b="1">
              <a:latin typeface="Times New Roman"/>
              <a:cs typeface="Times New Roman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44368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792224"/>
            <a:ext cx="2206752" cy="62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  <a:cs typeface="Times New Roman"/>
              </a:rPr>
              <a:t>Discover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  <a:cs typeface="Times New Roman"/>
              </a:rPr>
              <a:t>GitHub search over Python repos with a build file.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2962656"/>
            <a:ext cx="2206752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  <a:cs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  <a:cs typeface="Times New Roman"/>
              </a:rPr>
              <a:t>558 candidates queued</a:t>
            </a:r>
            <a:endParaRPr lang="en-US" sz="1100" b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553456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54624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4624" y="1792224"/>
            <a:ext cx="2206752" cy="62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  <a:cs typeface="Times New Roman"/>
              </a:rPr>
              <a:t>Score density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  <a:cs typeface="Times New Roman"/>
              </a:rPr>
              <a:t>AST scorer counts dynamic constructs per KLOC of source 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4624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54624" y="2962656"/>
            <a:ext cx="2206752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  <a:cs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  <a:cs typeface="Times New Roman"/>
              </a:rPr>
              <a:t>LOW / MED / HIGH stratum</a:t>
            </a:r>
            <a:endParaRPr lang="en-US" sz="1100" b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363712" y="1078992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64880" y="1280160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4880" y="1792224"/>
            <a:ext cx="2206752" cy="62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  <a:cs typeface="Times New Roman"/>
              </a:rPr>
              <a:t>Triage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Containerised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install + test run, one repo, one Python, one attempt.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64880" y="2889503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64880" y="2962656"/>
            <a:ext cx="2206752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dirty="0">
                <a:solidFill>
                  <a:srgbClr val="F28E01"/>
                </a:solidFill>
                <a:latin typeface="Times New Roman"/>
              </a:rPr>
              <a:t>→</a:t>
            </a:r>
            <a:r>
              <a:rPr sz="1100" b="1" dirty="0">
                <a:solidFill>
                  <a:srgbClr val="F28E01"/>
                </a:solidFill>
                <a:latin typeface="Times New Roman"/>
                <a:cs typeface="Times New Roman"/>
              </a:rPr>
              <a:t>  </a:t>
            </a:r>
            <a:r>
              <a:rPr sz="1100" b="1" dirty="0">
                <a:solidFill>
                  <a:srgbClr val="1E252E"/>
                </a:solidFill>
                <a:latin typeface="Times New Roman"/>
                <a:cs typeface="Times New Roman"/>
              </a:rPr>
              <a:t>GREEN / AMBER / RED + pinned </a:t>
            </a:r>
            <a:r>
              <a:rPr sz="1100" b="1" dirty="0" err="1">
                <a:solidFill>
                  <a:srgbClr val="1E252E"/>
                </a:solidFill>
                <a:latin typeface="Times New Roman"/>
                <a:cs typeface="Times New Roman"/>
              </a:rPr>
              <a:t>lockfile</a:t>
            </a:r>
            <a:endParaRPr lang="en-US" sz="1100" b="1" dirty="0" err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0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2944368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4242816"/>
            <a:ext cx="2206752" cy="624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 dirty="0">
                <a:solidFill>
                  <a:srgbClr val="1E252E"/>
                </a:solidFill>
                <a:latin typeface="Times New Roman"/>
                <a:cs typeface="Times New Roman"/>
              </a:rPr>
              <a:t>Capture </a:t>
            </a:r>
            <a:r>
              <a:rPr lang="en-GB" sz="1450" b="1">
                <a:solidFill>
                  <a:srgbClr val="1E252E"/>
                </a:solidFill>
                <a:latin typeface="Times New Roman"/>
                <a:cs typeface="Times New Roman"/>
              </a:rPr>
              <a:t>workloads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Annotators record ≥3 </a:t>
            </a:r>
            <a:r>
              <a:rPr sz="110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replayable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runs per repo, verified twice.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44368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44368" y="5413247"/>
            <a:ext cx="2206752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 </a:t>
            </a:r>
            <a:r>
              <a:rPr sz="1100" b="1" dirty="0">
                <a:solidFill>
                  <a:srgbClr val="F28E01"/>
                </a:solidFill>
                <a:latin typeface="Times New Roman"/>
                <a:cs typeface="Times New Roman"/>
              </a:rPr>
              <a:t> </a:t>
            </a:r>
            <a:r>
              <a:rPr sz="1100" b="1">
                <a:solidFill>
                  <a:srgbClr val="1E252E"/>
                </a:solidFill>
                <a:latin typeface="Times New Roman"/>
                <a:cs typeface="Times New Roman"/>
              </a:rPr>
              <a:t>The execution oracle</a:t>
            </a:r>
            <a:endParaRPr lang="en-US" sz="1100" b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553456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5754624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54624" y="4242816"/>
            <a:ext cx="2206752" cy="62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  <a:cs typeface="Times New Roman"/>
              </a:rPr>
              <a:t>Extract both graphs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Static: </a:t>
            </a:r>
            <a:r>
              <a:rPr sz="110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PyCG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0.0.8 + </a:t>
            </a:r>
            <a:r>
              <a:rPr sz="110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Pyright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1.1.411.  Dynamic: </a:t>
            </a:r>
            <a:r>
              <a:rPr sz="1100" b="0" i="0" dirty="0" err="1">
                <a:solidFill>
                  <a:srgbClr val="6E7883"/>
                </a:solidFill>
                <a:latin typeface="Times New Roman"/>
                <a:cs typeface="Times New Roman"/>
              </a:rPr>
              <a:t>sys.monitoring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tracer.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54624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54624" y="5413247"/>
            <a:ext cx="2206752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→</a:t>
            </a:r>
            <a:r>
              <a:rPr sz="1100" b="1" dirty="0">
                <a:solidFill>
                  <a:srgbClr val="F28E01"/>
                </a:solidFill>
                <a:latin typeface="Times New Roman"/>
                <a:cs typeface="Times New Roman"/>
              </a:rPr>
              <a:t>  </a:t>
            </a:r>
            <a:r>
              <a:rPr sz="1100" b="1">
                <a:solidFill>
                  <a:srgbClr val="1E252E"/>
                </a:solidFill>
                <a:latin typeface="Times New Roman"/>
                <a:cs typeface="Times New Roman"/>
              </a:rPr>
              <a:t>S  and  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3712" y="3529583"/>
            <a:ext cx="2609088" cy="22128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64880" y="3730751"/>
            <a:ext cx="402336" cy="40233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4880" y="4242816"/>
            <a:ext cx="2206752" cy="624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1E252E"/>
                </a:solidFill>
                <a:latin typeface="Times New Roman"/>
                <a:cs typeface="Times New Roman"/>
              </a:rPr>
              <a:t>Fuse &amp; measure</a:t>
            </a:r>
            <a:endParaRPr lang="en-US" sz="1450" b="1" i="0">
              <a:solidFill>
                <a:srgbClr val="1E252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Dual-state CPG, fused on read; recall over the </a:t>
            </a:r>
            <a:r>
              <a:rPr lang="en-GB" sz="1100" dirty="0" err="1">
                <a:solidFill>
                  <a:srgbClr val="6E7883"/>
                </a:solidFill>
                <a:latin typeface="Times New Roman"/>
                <a:cs typeface="Times New Roman"/>
              </a:rPr>
              <a:t>comparaable</a:t>
            </a:r>
            <a:r>
              <a:rPr sz="1100" b="0" i="0" dirty="0">
                <a:solidFill>
                  <a:srgbClr val="6E7883"/>
                </a:solidFill>
                <a:latin typeface="Times New Roman"/>
                <a:cs typeface="Times New Roman"/>
              </a:rPr>
              <a:t> universe.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64880" y="5340095"/>
            <a:ext cx="2206752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64880" y="5413247"/>
            <a:ext cx="2206752" cy="16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  <a:cs typeface="Times New Roman"/>
              </a:rPr>
              <a:t>→  </a:t>
            </a:r>
            <a:r>
              <a:rPr sz="1100" b="1">
                <a:solidFill>
                  <a:srgbClr val="1E252E"/>
                </a:solidFill>
                <a:latin typeface="Times New Roman"/>
                <a:cs typeface="Times New Roman"/>
              </a:rPr>
              <a:t>The H2a number</a:t>
            </a:r>
            <a:endParaRPr lang="en-US" sz="1100" b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43200" y="5888736"/>
            <a:ext cx="8229600" cy="168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E7883"/>
                </a:solidFill>
                <a:latin typeface="Times New Roman"/>
                <a:cs typeface="Times New Roman"/>
              </a:rPr>
              <a:t>Every stage runs inside a container pinned by digest, never by tag — </a:t>
            </a:r>
            <a:r>
              <a:rPr sz="1150" b="1">
                <a:solidFill>
                  <a:srgbClr val="1E252E"/>
                </a:solidFill>
                <a:latin typeface="Times New Roman"/>
                <a:cs typeface="Times New Roman"/>
              </a:rPr>
              <a:t>the host never traces.</a:t>
            </a:r>
            <a:endParaRPr lang="en-US" sz="1150" b="1">
              <a:solidFill>
                <a:srgbClr val="1E252E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2.  Flow / Methodology — What Makes It a Measurement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3749039" cy="3017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1261872"/>
            <a:ext cx="33467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IDENTITY IS PINNED BEFORE ANYTHING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609343"/>
            <a:ext cx="3346703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Repo identity — all five required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i="0">
                <a:solidFill>
                  <a:srgbClr val="0F6C8C"/>
                </a:solidFill>
                <a:latin typeface="Courier New"/>
              </a:rPr>
              <a:t>(repo_url, sha, pyver,
 base_image_digest, lockfile_sha256)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Node identity — frozen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0F6C8C"/>
                </a:solidFill>
                <a:latin typeface="Courier New"/>
              </a:rPr>
              <a:t>(repo_url, sha, relative_path,
 qualified_symbol)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Line numbers are deliberately excluded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 — they move under reformatting and differ between the static parse and the runtime frame.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Both graphs are extracted inside the same pinned image,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so a difference between them is a property of the code — not of the environment it ran 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272" y="1078992"/>
            <a:ext cx="4224528" cy="3017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1261872"/>
            <a:ext cx="38221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METRIC DISCIPLINE, PRE-REGISTERED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396432"/>
            <a:ext cx="3833396" cy="235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Comparable universe —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both ends in-repo and Python-level. C/builtin and third-party are excluded from the primary denominator.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Recall = |S∩R| / |R|.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|S∩R|/|S| is never called precision — it is the workload-confirmed fraction.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R is a lower bound,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conditional on the recorded workloads. That wording is mandatory everywhere.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Wrapper transparency —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caller → wrapper → f collapses to caller → f, so decorators cannot manufacture misses.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1">
                <a:solidFill>
                  <a:srgbClr val="1E252E"/>
                </a:solidFill>
                <a:latin typeface="Times New Roman"/>
              </a:rPr>
              <a:t>No LLM-as-judge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anywhere in validation or headline metrics.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062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FROZEN BEFORE THE CODE THAT CONSUMES THEM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4645152"/>
            <a:ext cx="22555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metric_spec_h2a.md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Node identity, what counts as an edge, the comparable universe, threats pre-empted.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4736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30240" y="4645152"/>
            <a:ext cx="22555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density_scorer_spec.md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Thresholds calibrated once, on 14 reference repos, before any corpus admission.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51520" y="4480560"/>
            <a:ext cx="262128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34399" y="4645152"/>
            <a:ext cx="22555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E252E"/>
                </a:solidFill>
                <a:latin typeface="Courier New"/>
              </a:rPr>
              <a:t>config/base_images.json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0">
                <a:solidFill>
                  <a:srgbClr val="6E7883"/>
                </a:solidFill>
                <a:latin typeface="Times New Roman"/>
              </a:rPr>
              <a:t>frozen </a:t>
            </a:r>
            <a:r>
              <a:rPr sz="1050" b="1">
                <a:solidFill>
                  <a:srgbClr val="2E7D5B"/>
                </a:solidFill>
                <a:latin typeface="Times New Roman"/>
              </a:rPr>
              <a:t>v1.2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Five image digests, tool pins, the recipe ladder. Appended to, never edited.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3.  Demo of Project — A Call Graph Missing a Real Call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78992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WHAT RUNS ON SCREEN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1408176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1389888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fixture.py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A small plugin registry that dispatches through getattr — the construct class H2a is about.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0" y="2340864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22576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PyCG 0.0.8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Runs in the pinned container against the same file, writes static.json.</a:t>
            </a:r>
          </a:p>
        </p:txBody>
      </p:sp>
      <p:sp>
        <p:nvSpPr>
          <p:cNvPr id="29" name="Oval 28"/>
          <p:cNvSpPr/>
          <p:nvPr/>
        </p:nvSpPr>
        <p:spPr>
          <a:xfrm>
            <a:off x="2743200" y="3273552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255264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sys.setprofile tracer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Executes the fixture for real, writes runtime.json.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0" y="4206240"/>
            <a:ext cx="347472" cy="347472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87952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E252E"/>
                </a:solidFill>
                <a:latin typeface="Times New Roman"/>
              </a:rPr>
              <a:t>Web explainer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React + Cytoscape diffs the two graphs and highlights the edge only one of them has.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3797" y="1314316"/>
            <a:ext cx="4343400" cy="3017520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1637269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REAL OUTPUT, THIS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042249"/>
            <a:ext cx="3941063" cy="1969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Courier New"/>
              </a:rPr>
              <a:t>static.json</a:t>
            </a:r>
            <a:r>
              <a:rPr sz="1050" b="0">
                <a:solidFill>
                  <a:srgbClr val="9FADBC"/>
                </a:solidFill>
                <a:latin typeface="Times New Roman"/>
              </a:rPr>
              <a:t>  —  3 edges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 → fixture.main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fixture.main → PluginRegistry.dispatch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PluginRegistry.dispatch → &lt;builtin&gt;.getattr</a:t>
            </a:r>
          </a:p>
          <a:p>
            <a:pPr algn="l">
              <a:lnSpc>
                <a:spcPct val="9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9FADBC"/>
                </a:solidFill>
                <a:latin typeface="Courier New"/>
              </a:rPr>
              <a:t>runtime.json</a:t>
            </a:r>
            <a:r>
              <a:rPr sz="1050" b="0">
                <a:solidFill>
                  <a:srgbClr val="9FADBC"/>
                </a:solidFill>
                <a:latin typeface="Times New Roman"/>
              </a:rPr>
              <a:t>  —  3 edges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 → fixture.main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  fixture.main → PluginRegistry.dispatch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FFC46B"/>
                </a:solidFill>
                <a:latin typeface="Courier New"/>
              </a:rPr>
              <a:t>  PluginRegistry.dispatch → PluginRegistry.handle_email</a:t>
            </a:r>
          </a:p>
          <a:p>
            <a:pPr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B09A"/>
                </a:solidFill>
                <a:latin typeface="Times New Roman"/>
              </a:rPr>
              <a:t>✕  handle_email is executed every run and appears in no static graph.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138704"/>
            <a:ext cx="8229600" cy="804672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93629" y="5266720"/>
            <a:ext cx="77175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C46B"/>
                </a:solidFill>
                <a:latin typeface="Times New Roman"/>
              </a:rPr>
              <a:t>The demo is the hypothesis in miniature. </a:t>
            </a:r>
            <a:r>
              <a:rPr sz="1200" b="0">
                <a:solidFill>
                  <a:srgbClr val="FFFFFF"/>
                </a:solidFill>
                <a:latin typeface="Times New Roman"/>
              </a:rPr>
              <a:t>Run the same static-vs-runtime diff across the whole pinned corpus and the result is the H2a number.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4.  Results / Output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1197864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558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candidates discovered
&amp; scored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target ~450 · floor 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10912" y="1197864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PyCG failure rate
under Python 3.12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it does not run there at 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4032" y="1197864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1.6%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PyCG failure on library
code under Python 3.10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3.1% on test &amp; fixture paths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078992"/>
            <a:ext cx="1920240" cy="1426464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1197864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i="0">
                <a:solidFill>
                  <a:srgbClr val="F28E01"/>
                </a:solidFill>
                <a:latin typeface="Times New Roman"/>
              </a:rPr>
              <a:t>93 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E252E"/>
                </a:solidFill>
                <a:latin typeface="Times New Roman"/>
              </a:rPr>
              <a:t>click triaged GREEN,
end to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9-package lockfile + sha256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706624"/>
            <a:ext cx="3977639" cy="3474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44368" y="2889504"/>
            <a:ext cx="35753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STRATIFIED QUEUE &amp; SCORER CALIBRATION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44368" y="3566160"/>
            <a:ext cx="3575303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44368" y="32735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Stratum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2735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32735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Ref.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36393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HIGH  (≥10.0)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63931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63931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40050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MED  (4.0–10.0)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00507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00507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43708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LOW  (&lt;4.0)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37083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246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37083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473659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6E7883"/>
                </a:solidFill>
                <a:latin typeface="Times New Roman"/>
              </a:rPr>
              <a:t>TOO_SMALL  (&lt;500 SLOC)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73659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73659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E252E"/>
                </a:solidFill>
                <a:latin typeface="Times New Roman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44368" y="5394960"/>
            <a:ext cx="3575303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44368" y="5102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Total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1023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558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51023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E252E"/>
                </a:solidFill>
                <a:latin typeface="Times New Roman"/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4368" y="5650992"/>
            <a:ext cx="357530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6E7883"/>
                </a:solidFill>
                <a:latin typeface="Times New Roman"/>
              </a:rPr>
              <a:t>Stratum comes from source only — scoring test suites together made every pytest project look HIGH.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59" y="2706624"/>
            <a:ext cx="3977640" cy="3474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96327" y="2889504"/>
            <a:ext cx="3575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FOUND BY RUNNING PHASE 0, NOT PLANNING 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7" y="3119314"/>
            <a:ext cx="3586510" cy="2716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PyCG 0.0.8 cannot be imported on Linux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it ships PyCG/ but imports pycg. A symlink shim is now mandatory in every image.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The scorer's first run had no discrimination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10 of 14 repos landed HIGH. Four false-positive classes were fixed before freezing.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It corrected two a-priori labels, and was right: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requests really does call importlib.import_module in its compat 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ins1's classifier has an ordering bug.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Kept verbatim as error_class_v10 for audit comparability; the disagreement rate is now reportable.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05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50" b="1">
                <a:solidFill>
                  <a:srgbClr val="1E252E"/>
                </a:solidFill>
                <a:latin typeface="Times New Roman"/>
              </a:rPr>
              <a:t>A 16.8× overcount was caught in verification — </a:t>
            </a:r>
            <a:r>
              <a:rPr sz="1050" b="0">
                <a:solidFill>
                  <a:srgbClr val="6E7883"/>
                </a:solidFill>
                <a:latin typeface="Times New Roman"/>
              </a:rPr>
              <a:t>click's collected tests read as 32965 instead of 1965.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5.  Status of Paper  (1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99232" y="128016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PAPER 1  ·  SYSTEMATIC 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1E252E"/>
                </a:solidFill>
                <a:latin typeface="Times New Roman"/>
              </a:rPr>
              <a:t>Graph-Aware Neuro-Symbolic Approaches for Legacy Modernization: A Systematic Review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Adarsha S P · Sankalp Shankar · Surabhi Singh · Pravith S Upadhyaya · Abhishek Kumar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Scope: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IEEE Xplore, ACM DL and arXiv, January 2020 – April 2026; repository-level code translation, refactoring and validation. §VIII.B is the finding this project turns into a measurement.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280160"/>
            <a:ext cx="2304288" cy="1700784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77072" y="1463039"/>
            <a:ext cx="197510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 i="0">
                <a:solidFill>
                  <a:srgbClr val="9FADBC"/>
                </a:solidFill>
                <a:latin typeface="Times New Roman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 i="0">
                <a:solidFill>
                  <a:srgbClr val="FFC46B"/>
                </a:solidFill>
                <a:latin typeface="Times New Roman"/>
              </a:rPr>
              <a:t>UNDER REVIEW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Venue:  [Venue Name]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Submitted:  [Date]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Paper ID:  [ID]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383280"/>
            <a:ext cx="8229600" cy="1874519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9232" y="3584448"/>
            <a:ext cx="7717536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PAPER 2  ·  IN PREPARATION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E252E"/>
                </a:solidFill>
                <a:latin typeface="Times New Roman"/>
              </a:rPr>
              <a:t>TraceWeave-Core: How Much of a Python Call Graph Does Static Extraction Miss?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Gated on the Phase 3 GO / NO-GO.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The headline is the H2a recall figure with its per-stratum and per-edge-type breakdowns, plus the DynBench-Core artifact. The measurement is publishable either way — a low miss rate concentrated at named constructs is a stronger result than a diffuse high 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46811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6E7883"/>
                </a:solidFill>
                <a:latin typeface="Times New Roman"/>
              </a:rPr>
              <a:t>No threshold or definition may be tuned after seeing results — the specs were frozen before the extraction code existed.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5.  Status of Paper — Proof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489204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71800" y="1581912"/>
            <a:ext cx="4434840" cy="340156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44368" y="1261872"/>
            <a:ext cx="44897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SUBMISSION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816352"/>
            <a:ext cx="3886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6E7883"/>
                </a:solidFill>
                <a:latin typeface="Times New Roman"/>
              </a:rPr>
              <a:t>[ Paste the submission-confirmation screenshot here ]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Acknowledgement e-mail or the portal's submitted-papers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1078992"/>
            <a:ext cx="3063240" cy="4160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1280160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WHAT THE PROOF MUST SHOW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1645919"/>
            <a:ext cx="2624328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Paper title exactly as submitted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Full author list in submission order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Venue name and track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Submission or paper 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Date-stamped acknowledgement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>
                <a:solidFill>
                  <a:srgbClr val="F28E01"/>
                </a:solidFill>
                <a:latin typeface="Times New Roman"/>
              </a:rPr>
              <a:t>☐   </a:t>
            </a:r>
            <a:r>
              <a:rPr sz="1200" b="0">
                <a:solidFill>
                  <a:srgbClr val="1E252E"/>
                </a:solidFill>
                <a:latin typeface="Times New Roman"/>
              </a:rPr>
              <a:t>Current state shown by the 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9016" y="4206240"/>
            <a:ext cx="2624328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29016" y="4352544"/>
            <a:ext cx="2624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6E7883"/>
                </a:solidFill>
                <a:latin typeface="Times New Roman"/>
              </a:rPr>
              <a:t>Redact reviewer identities and any e-mail address that is not a team member's before the slide is shown.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6.  Proposed Outcome vs Actual Outcome  (1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384048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1170432"/>
            <a:ext cx="2724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PHASE 0 COMMITMENT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1" y="1170432"/>
            <a:ext cx="18836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PROPOSED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ACTUAL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117043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0" y="1463039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44368" y="1581912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Candidates discovered &amp; scored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1581912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~450  (floor 300)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158191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558 queued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68128" y="1563624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2080260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Stratum balance — HIGH not thin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1" y="2080260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risk flagged in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208026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HIGH 135 / MED 177 / LOW 246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68128" y="206197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459736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44368" y="2578608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Pyright pinned before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2431" y="2578608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version query 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578608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1.1.411, published 2026-06-25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68128" y="25603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3076956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PyCG parse-failure rate measured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2431" y="3076956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"expected non-trivial"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307695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1.6% @ 3.10  ·  100% @ 3.12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68128" y="30586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456432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44368" y="3575304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triage/runner.py — parallel 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2431" y="3575304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recipe ladder + checkpoints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3575304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delivered, re-verifies every outcome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68128" y="355701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4073652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Density scorer calibrated &amp; frozen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2431" y="4073652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calibrate once, then freeze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407365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v1.0 — 6 HIGH / 4 MED / 3 LOW / 1 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68128" y="4055364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453128"/>
            <a:ext cx="8229600" cy="4983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44368" y="4572000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Corpus with ≥3 workloads per repo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42431" y="4572000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~60 repos  (floor 40)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4572000"/>
            <a:ext cx="239572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52E"/>
                </a:solidFill>
                <a:latin typeface="Times New Roman"/>
              </a:rPr>
              <a:t>next</a:t>
            </a:r>
            <a:r>
              <a:rPr sz="1050" b="0" i="0">
                <a:solidFill>
                  <a:srgbClr val="1E252E"/>
                </a:solidFill>
                <a:latin typeface="Times New Roman"/>
              </a:rPr>
              <a:t> work — not started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68128" y="455371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44368" y="5070348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E252E"/>
                </a:solidFill>
                <a:latin typeface="Times New Roman"/>
              </a:rPr>
              <a:t>H2a recall figure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42431" y="5070348"/>
            <a:ext cx="18836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6E7883"/>
                </a:solidFill>
                <a:latin typeface="Times New Roman"/>
              </a:rPr>
              <a:t>Phase 3 GO / NO-GO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070348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252E"/>
                </a:solidFill>
                <a:latin typeface="Times New Roman"/>
              </a:rPr>
              <a:t>not yet measured, by design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68128" y="50520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NEXT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55961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Phase 0 closed on schedule and over target on every item it owned. </a:t>
            </a:r>
            <a:r>
              <a:rPr sz="1100" b="0">
                <a:solidFill>
                  <a:srgbClr val="6E7883"/>
                </a:solidFill>
                <a:latin typeface="Times New Roman"/>
              </a:rPr>
              <a:t>The two NEXT rows are Phase 1 and Phase 3 deliverables, not slippage.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6.  What the Plan Did Not Predict  (2 of 2)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26080" y="1261872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1252728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PyCG does not run on Python 3.12 at 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773936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1311 of 1311 reference files fail with ImportManagerError — not a SyntaxError, so §2 anticipated the wrong risk.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Static baselines now run on ≤3.11 while repos are triaged on 3.12. Recorded as deliberate, not discovered from a stack trace.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1078992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50608" y="1261872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1252728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The published 0.0.8 sdist is unimportable on Linux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1773936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It installs PyCG/ but every internal import reads pycg. It only ever worked on case-insensitive macOS.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Pin held at 0.0.8; every image carries the symlink shim, and the deviation is written into MANIFEST §2.1.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935224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2926080" y="3118104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108960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This Mac cannot build the 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30168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8 GB RAM OOM-kills test suites at --jobs 3; the corpus must be built on one architecture.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Mac is the manager host; the Linux x86_64 box executes. The corpus is amd64 and a Mac-triaged repo is development output.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2935224"/>
            <a:ext cx="4005072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50608" y="3118104"/>
            <a:ext cx="310896" cy="310896"/>
          </a:xfrm>
          <a:prstGeom prst="ellipse">
            <a:avLst/>
          </a:prstGeom>
          <a:solidFill>
            <a:srgbClr val="F28E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2944" y="3108960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252E"/>
                </a:solidFill>
                <a:latin typeface="Times New Roman"/>
              </a:rPr>
              <a:t>A patch introduced a silent 16.8× overcount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3630168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n_collected matched pytest's pre-deselection total: click read 32965 instead of 1965.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→  </a:t>
            </a:r>
            <a:r>
              <a:rPr sz="1000" b="0">
                <a:solidFill>
                  <a:srgbClr val="1E252E"/>
                </a:solidFill>
                <a:latin typeface="Times New Roman"/>
              </a:rPr>
              <a:t>Caught during verification, fixed in both triage.sh and runner.py; the total is kept separately as n_collected_total.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919472"/>
            <a:ext cx="8229600" cy="1170432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62656" y="5084064"/>
            <a:ext cx="77906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1" i="0">
                <a:solidFill>
                  <a:srgbClr val="F28E01"/>
                </a:solidFill>
                <a:latin typeface="Times New Roman"/>
              </a:rPr>
              <a:t>STILL OPEN — CARRIED INTO PHASE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00" b="1">
                <a:solidFill>
                  <a:srgbClr val="1E252E"/>
                </a:solidFill>
                <a:latin typeface="Times New Roman"/>
              </a:rPr>
              <a:t>Amend ins1 §6.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triage.sh v1.2 emits OOM, TIMEOUT, KILLED and collect_partial, which the operator sheet forbids — an operator cannot record what the script prints. validate_sheet.py --v12 is the interim machine check.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000" b="1">
                <a:solidFill>
                  <a:srgbClr val="1E252E"/>
                </a:solidFill>
                <a:latin typeface="Times New Roman"/>
              </a:rPr>
              <a:t>Re-run the 10% human-vs-classifier audit under v1.2,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and do not pool the 14 v1.1 spot-check rows with the 558.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7.  Conclusion, Deliverables &amp; Impact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129844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28E01"/>
                </a:solidFill>
                <a:latin typeface="Times New Roman"/>
              </a:rPr>
              <a:t>Key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810512"/>
            <a:ext cx="219456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Phase 0 closed complete and over target: 558 candidates against a plan of ~450.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The field's standard static baseline fails on 100% of files under the interpreter this project defaults 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Dynamic-feature density is measurable and discriminating once four false-positive classes are removed.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F28E01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Every headline defect so far was found by running the pipeline, not by reviewing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9552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129844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F6C8C"/>
                </a:solidFill>
                <a:latin typeface="Times New Roman"/>
              </a:rPr>
              <a:t>Deliverables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810512"/>
            <a:ext cx="219456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DynBench-Core — pinned repos, replayable workloads, reference edge sets, harness.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pre-registered H2a metric specification, frozen before any extraction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Automated triage: triage.sh v1.2 + runner.py with explicit corpus admission.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0F6C8C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tracing-feasibility survey, including the repos that could not be traced.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4" y="1078992"/>
            <a:ext cx="2596896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129844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E7D5B"/>
                </a:solidFill>
                <a:latin typeface="Times New Roman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1810512"/>
            <a:ext cx="219456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Tells graph-conditioned code agents how lossy their retrieval substrate really 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Names the construct classes to fix, rather than reporting one diffuse percentage.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Benchmarks outlive methods — the artifact stays useful after the number is quoted.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00" b="1">
                <a:solidFill>
                  <a:srgbClr val="2E7D5B"/>
                </a:solidFill>
                <a:latin typeface="Times New Roman"/>
              </a:rPr>
              <a:t>•  </a:t>
            </a:r>
            <a:r>
              <a:rPr sz="1100" b="0">
                <a:solidFill>
                  <a:srgbClr val="1E252E"/>
                </a:solidFill>
                <a:latin typeface="Times New Roman"/>
              </a:rPr>
              <a:t>A negative result is still the paper: the conditional claim is the strong 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120640"/>
            <a:ext cx="8229600" cy="786384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9232" y="5285231"/>
            <a:ext cx="771753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FFFFFF"/>
                </a:solidFill>
                <a:latin typeface="Times New Roman"/>
              </a:rPr>
              <a:t>Every pin, digest and frozen threshold exists so the published number is a measurement — </a:t>
            </a:r>
            <a:r>
              <a:rPr sz="1250" b="1">
                <a:solidFill>
                  <a:srgbClr val="FFC46B"/>
                </a:solidFill>
                <a:latin typeface="Times New Roman"/>
              </a:rPr>
              <a:t>not the result of searching until something looked good.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8.  Individual Responsibilities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2743200" y="1078992"/>
            <a:ext cx="8229600" cy="402336"/>
          </a:xfrm>
          <a:prstGeom prst="roundRect">
            <a:avLst>
              <a:gd name="adj" fmla="val 3500"/>
            </a:avLst>
          </a:prstGeom>
          <a:solidFill>
            <a:srgbClr val="2B344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62656" y="117957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1179576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USN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179576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WORKSTREAM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17957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OWNS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1481328"/>
            <a:ext cx="8229600" cy="8412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62656" y="166420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1 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1673351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664207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Discovery &amp; stratification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627631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discover_candidates.py · density_score.py · scorer calibration and the frozen thresholds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25054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2 Name]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5146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505456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Triage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46888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triage.sh v1.2 · runner.py · lockfile pinning, corpus admission and the 10%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163824"/>
            <a:ext cx="8229600" cy="84124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62656" y="33467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3 Name]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3558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46704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Static baselines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31012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PyCG 0.0.8 + Pyright 1.1.411 in pinned images · parse-rate measurement · feasibility survey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62656" y="41879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52E"/>
                </a:solidFill>
                <a:latin typeface="Times New Roman"/>
              </a:rPr>
              <a:t>[Member 4 Name]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4197096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E7883"/>
                </a:solidFill>
                <a:latin typeface="Times New Roman"/>
              </a:rPr>
              <a:t>[1AY__AI___]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187952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28E01"/>
                </a:solidFill>
                <a:latin typeface="Times New Roman"/>
              </a:rPr>
              <a:t>Tracing, demo &amp; specification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5137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sys.monitoring tracer · live demo and web explainer · metric_spec_h2a.md and MANIFEST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0" y="5047488"/>
            <a:ext cx="8229600" cy="731520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62656" y="5341985"/>
            <a:ext cx="7790688" cy="1608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E252E"/>
                </a:solidFill>
                <a:latin typeface="Times New Roman"/>
              </a:rPr>
              <a:t>Guide — [Guide Name], [Designation</a:t>
            </a:r>
            <a:r>
              <a:rPr lang="en-GB" sz="1100" b="1">
                <a:solidFill>
                  <a:srgbClr val="1E252E"/>
                </a:solidFill>
                <a:latin typeface="Times New Roman"/>
              </a:rPr>
              <a:t>]</a:t>
            </a:r>
            <a:endParaRPr lang="en-US" sz="1100" b="0">
              <a:solidFill>
                <a:srgbClr val="6E788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9.  Gantt Chart — Workstreams</a:t>
            </a:r>
            <a:endParaRPr lang="en-GB" sz="2400" b="1">
              <a:solidFill>
                <a:srgbClr val="1E25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Rounded Rectangle 23"/>
          <p:cNvSpPr/>
          <p:nvPr/>
        </p:nvSpPr>
        <p:spPr>
          <a:xfrm>
            <a:off x="5440680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7688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2008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1133856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108813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E7883"/>
                </a:solidFill>
                <a:latin typeface="Times New Roman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3219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219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2371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371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1522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522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674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674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9825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825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89770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9770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81285" y="1261872"/>
            <a:ext cx="691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6E7883"/>
                </a:solidFill>
                <a:latin typeface="Times New Roman"/>
              </a:rPr>
              <a:t>W8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1285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965484" y="1517904"/>
            <a:ext cx="7315" cy="3621024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151790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34640" y="160020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Discovery &amp; candidate pool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68112" y="1581912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19019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Density scorer + calibration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68112" y="1883664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2121408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34640" y="2203703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Triage atom — triage.sh v1.2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68112" y="2185415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2505456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runner.py + corpus ledger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59627" y="2487168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2724912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4640" y="280720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Static baselines pinned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9627" y="2788920"/>
            <a:ext cx="1328166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310896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Metric spec — frozen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68112" y="3090672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3328415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834640" y="3410711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SOP v1.1 + operator sheets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68112" y="3392423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3712463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Tracer prototype + live demo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1142" y="3694176"/>
            <a:ext cx="636651" cy="1920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931920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834640" y="4014215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52E"/>
                </a:solidFill>
                <a:latin typeface="Times New Roman"/>
              </a:rPr>
              <a:t>Corpus build — 558 repos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1142" y="3995928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F28E0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Times New Roman"/>
              </a:rPr>
              <a:t>IN PROGRESS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431596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Workload capture (ins2)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2656" y="4297680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743200" y="4535424"/>
            <a:ext cx="8229600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34640" y="461772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Tracing + normalisation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2656" y="4599432"/>
            <a:ext cx="2711196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834640" y="491947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E7883"/>
                </a:solidFill>
                <a:latin typeface="Times New Roman"/>
              </a:rPr>
              <a:t>Fusion → H2a → GO / NO-GO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25686" y="4901184"/>
            <a:ext cx="2019680" cy="192024"/>
          </a:xfrm>
          <a:prstGeom prst="roundRect">
            <a:avLst>
              <a:gd name="adj" fmla="val 50000"/>
            </a:avLst>
          </a:prstGeom>
          <a:solidFill>
            <a:srgbClr val="D3DAE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743200" y="3931920"/>
            <a:ext cx="8229600" cy="1097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402353" y="1426463"/>
            <a:ext cx="18288" cy="3712463"/>
          </a:xfrm>
          <a:prstGeom prst="rect">
            <a:avLst/>
          </a:prstGeom>
          <a:solidFill>
            <a:srgbClr val="B3332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79977" y="51663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B33322"/>
                </a:solidFill>
                <a:latin typeface="Times New Roman"/>
              </a:rPr>
              <a:t>▲  TODAY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43200" y="5431536"/>
            <a:ext cx="8229600" cy="841248"/>
          </a:xfrm>
          <a:prstGeom prst="roundRect">
            <a:avLst>
              <a:gd name="adj" fmla="val 35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62656" y="5550408"/>
            <a:ext cx="779068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Eight of twelve workstreams are delivered, in the first three weeks.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All four of MANIFEST §7's Phase-1 blockers — the Pyright pin, the PyCG parse-rate measurement, runner.py and discover_candidates.py — were cleared before Phase 1 opened.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E252E"/>
                </a:solidFill>
                <a:latin typeface="Times New Roman"/>
              </a:rPr>
              <a:t>The chart stops at the Week 8 seam </a:t>
            </a:r>
            <a:r>
              <a:rPr sz="1000" b="0">
                <a:solidFill>
                  <a:srgbClr val="6E7883"/>
                </a:solidFill>
                <a:latin typeface="Times New Roman"/>
              </a:rPr>
              <a:t>because H2a, DynBench-Core and the feasibility survey already form a complete paper there. H2b-lite and the release run weeks 8–12 beyond it.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E252E"/>
                </a:solidFill>
                <a:latin typeface="Times New Roman"/>
              </a:rPr>
              <a:t>10.  References</a:t>
            </a:r>
            <a:endParaRPr lang="en-IN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DEPARTMENT OF ARTIFICIAL INTELLIGENCE AND MACHINE LEARNING</a:t>
            </a:r>
          </a:p>
          <a:p>
            <a:pPr algn="ctr"/>
            <a:r>
              <a:rPr lang="en-US" sz="800" b="1"/>
              <a:t>ACHARYA INSTITUTE OF TECHNOLOGY</a:t>
            </a:r>
            <a:endParaRPr lang="en-IN" sz="800" b="1"/>
          </a:p>
        </p:txBody>
      </p:sp>
      <p:sp>
        <p:nvSpPr>
          <p:cNvPr id="24" name="TextBox 23"/>
          <p:cNvSpPr txBox="1"/>
          <p:nvPr/>
        </p:nvSpPr>
        <p:spPr>
          <a:xfrm>
            <a:off x="2743200" y="107899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1078992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V. Salis, T. Sotiropoulos, P. Louridas, D. Spinellis, and D. Mitropoulos, “PyCG: Practical call graph generation in Python,” in Proc. 43rd Int. Conf. Software Engineering (ICSE), 2021, pp. 1646–1657.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04825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2048256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A. S. P, S. Shankar, S. Singh, P. S. Upadhyaya, and A. Kumar, “Graph-aware neuro-symbolic approaches for legacy modernization: A systematic review,” 2026, under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017520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017520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M. Shannon, “PEP 669 — Low impact monitoring for CPython,” Python Enhancement Proposals, Python Software Foundation, 2022.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986784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3986784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R. Bairi, A. Sonwane, A. Kanade, S. Iyer, S. Parthasarathy, S. Rajamani, B. Ashok, and S. Shet, “CodePlan: Repository-level coding using LLMs and planning,” in Proc. Int. Conf. Learning Representations (ICLR), 2024.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956048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956048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S. Ouyang, W. Yu, K. Ma, Z. Xiao, Z. Zhang, M. Jia, J. Han, H. Zhang, and D. Yu, “RepoGraph: Enhancing AI software engineering with repository-level code graph,” in Proc. Int. Conf. Learning Representations (ICLR), 2025.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107899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[6]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1078992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Y. Pan, J. Zhao, C. Wang, and Q. Liu, “RepoTransBench: A real-world benchmark for repository-level code translation,” arXiv:2412.17744, 2024.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204825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[7]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7496" y="2048256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A. R. Ibrahimzada, K. Ke, M. Pawagi, M. S. Abid, R. Pan, S. Sinha, and R. Jabbarvand, “Repository-level compositional code translation and validation,” arXiv:2410.24117, 2024.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017520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3017520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D. Guo, S. Ren, S. Lu, Z. Feng, D. Tang, S. Liu, L. Zhou, N. Duan, A. Svyatkovskiy, S. Fu, M. Tufano, S. Deng, C. Clement, D. Drain, N. Sundaresan, J. Yin, D. Jiang, and M. Zhou, “GraphCodeBERT: Pre-training code representations with data flow,” in Proc. Int. Conf. Learning Representations (ICLR), 2021.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986784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[9]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7496" y="3986784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Microsoft, “Pyright: Static type checker for Python,” version 1.1.411, 2026. [Online]. Available: https://github.com/microsoft/pyright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4956048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28E01"/>
                </a:solidFill>
                <a:latin typeface="Times New Roman"/>
              </a:rPr>
              <a:t>[10]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7496" y="4956048"/>
            <a:ext cx="35753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252E"/>
                </a:solidFill>
                <a:latin typeface="Times New Roman"/>
              </a:rPr>
              <a:t>Python Software Foundation, “ast — Abstract syntax trees,” Python 3.12 documentation, 2026. [Online]. Available: https://docs.python.org/3.12/library/ast.html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9801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6E7883"/>
                </a:solidFill>
                <a:latin typeface="Times New Roman"/>
              </a:rPr>
              <a:t>IEEE reference format.  Internal project documents (MANIFEST.md, metric_spec_h2a.md, density_scorer_spec.md) are cited in the report, not here.</a:t>
            </a:r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A009B-2FB7-45FB-816D-285EF3CCBA2C}"/>
              </a:ext>
            </a:extLst>
          </p:cNvPr>
          <p:cNvSpPr/>
          <p:nvPr/>
        </p:nvSpPr>
        <p:spPr>
          <a:xfrm>
            <a:off x="4367388" y="2257107"/>
            <a:ext cx="47486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>
                <a:solidFill>
                  <a:srgbClr val="1E25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  <a:cs typeface="Arial" charset="0"/>
              </a:rPr>
              <a:t>Thank you</a:t>
            </a:r>
            <a:endParaRPr lang="en-IN" sz="6600">
              <a:latin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4EA726-0E29-4E1A-A463-6CCE28D687E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/>
              <a:t>DEPARTMENT OF ARTIFICIAL INTELLIGENCE AND MACHINE LEARNING</a:t>
            </a:r>
          </a:p>
          <a:p>
            <a:pPr algn="ctr"/>
            <a:r>
              <a:rPr lang="en-US" sz="800"/>
              <a:t>ACHARYA INSTITUTE OF TECHNOLOGY</a:t>
            </a:r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351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Retrospect</vt:lpstr>
      <vt:lpstr>PowerPoint Presentation</vt:lpstr>
      <vt:lpstr>TABLE OF CONTENTS</vt:lpstr>
      <vt:lpstr>1.  Problem Statement &amp; Objective</vt:lpstr>
      <vt:lpstr>2.  Flow / Methodology — Measurement Pipeline  (1 of 2)</vt:lpstr>
      <vt:lpstr>2.  Flow / Methodology — What Makes It a Measurement  (2 of 2)</vt:lpstr>
      <vt:lpstr>3.  Demo of Project — A Call Graph Missing a Real Call</vt:lpstr>
      <vt:lpstr>4.  Results / Output</vt:lpstr>
      <vt:lpstr>5.  Status of Paper  (1 of 2)</vt:lpstr>
      <vt:lpstr>5.  Status of Paper — Proof  (2 of 2)</vt:lpstr>
      <vt:lpstr>6.  Proposed Outcome vs Actual Outcome  (1 of 2)</vt:lpstr>
      <vt:lpstr>6.  What the Plan Did Not Predict  (2 of 2)</vt:lpstr>
      <vt:lpstr>7.  Conclusion, Deliverables &amp; Impact</vt:lpstr>
      <vt:lpstr>8.  Individual Responsibilities</vt:lpstr>
      <vt:lpstr>9.  Gantt Chart — Workstreams</vt:lpstr>
      <vt:lpstr>10.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</dc:creator>
  <cp:revision>117</cp:revision>
  <dcterms:created xsi:type="dcterms:W3CDTF">2024-03-22T10:12:46Z</dcterms:created>
  <dcterms:modified xsi:type="dcterms:W3CDTF">2026-08-16T10:00:51Z</dcterms:modified>
</cp:coreProperties>
</file>